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463040"/>
            <a:ext cx="10058400" cy="365760"/>
          </a:xfrm>
          <a:prstGeom prst="rect">
            <a:avLst/>
          </a:prstGeom>
          <a:noFill/>
        </p:spPr>
        <p:txBody>
          <a:bodyPr wrap="square">
            <a:spAutoFit/>
          </a:bodyPr>
          <a:lstStyle/>
          <a:p>
            <a:pPr algn="l">
              <a:spcAft>
                <a:spcPts val="400"/>
              </a:spcAft>
            </a:pPr>
            <a:r>
              <a:rPr sz="1200" b="1">
                <a:solidFill>
                  <a:srgbClr val="8FA1B8"/>
                </a:solidFill>
                <a:latin typeface="Poppins"/>
              </a:rPr>
              <a:t>ACADEMIC RESEARCH PROJECT</a:t>
            </a:r>
          </a:p>
        </p:txBody>
      </p:sp>
      <p:sp>
        <p:nvSpPr>
          <p:cNvPr id="4" name="TextBox 3"/>
          <p:cNvSpPr txBox="1"/>
          <p:nvPr/>
        </p:nvSpPr>
        <p:spPr>
          <a:xfrm>
            <a:off x="822960" y="1874519"/>
            <a:ext cx="10515600" cy="1645920"/>
          </a:xfrm>
          <a:prstGeom prst="rect">
            <a:avLst/>
          </a:prstGeom>
          <a:noFill/>
        </p:spPr>
        <p:txBody>
          <a:bodyPr wrap="square">
            <a:spAutoFit/>
          </a:bodyPr>
          <a:lstStyle/>
          <a:p>
            <a:pPr algn="l">
              <a:spcAft>
                <a:spcPts val="0"/>
              </a:spcAft>
            </a:pPr>
            <a:r>
              <a:rPr sz="4000" b="1">
                <a:solidFill>
                  <a:srgbClr val="FFFFFF"/>
                </a:solidFill>
                <a:latin typeface="Poppins"/>
              </a:rPr>
              <a:t>Uncertainty-Aware Rainfall Prediction</a:t>
            </a:r>
          </a:p>
          <a:p>
            <a:pPr algn="l">
              <a:spcAft>
                <a:spcPts val="0"/>
              </a:spcAft>
            </a:pPr>
            <a:r>
              <a:rPr sz="4000" b="1">
                <a:solidFill>
                  <a:srgbClr val="FFFFFF"/>
                </a:solidFill>
                <a:latin typeface="Poppins"/>
              </a:rPr>
              <a:t>&amp; Decision Dashboard</a:t>
            </a:r>
          </a:p>
        </p:txBody>
      </p:sp>
      <p:sp>
        <p:nvSpPr>
          <p:cNvPr id="5" name="TextBox 4"/>
          <p:cNvSpPr txBox="1"/>
          <p:nvPr/>
        </p:nvSpPr>
        <p:spPr>
          <a:xfrm>
            <a:off x="822960" y="3566160"/>
            <a:ext cx="10058400" cy="731520"/>
          </a:xfrm>
          <a:prstGeom prst="rect">
            <a:avLst/>
          </a:prstGeom>
          <a:noFill/>
        </p:spPr>
        <p:txBody>
          <a:bodyPr wrap="square">
            <a:spAutoFit/>
          </a:bodyPr>
          <a:lstStyle/>
          <a:p>
            <a:pPr algn="l">
              <a:spcAft>
                <a:spcPts val="800"/>
              </a:spcAft>
            </a:pPr>
            <a:r>
              <a:rPr sz="1600" b="0">
                <a:solidFill>
                  <a:srgbClr val="C3D0E0"/>
                </a:solidFill>
                <a:latin typeface="Poppins"/>
              </a:rPr>
              <a:t>Communicating what the model predicts — and how uncertain it is.</a:t>
            </a:r>
          </a:p>
          <a:p>
            <a:pPr algn="l">
              <a:spcAft>
                <a:spcPts val="800"/>
              </a:spcAft>
            </a:pPr>
            <a:r>
              <a:rPr sz="1200" b="0">
                <a:solidFill>
                  <a:srgbClr val="8FA1B8"/>
                </a:solidFill>
                <a:latin typeface="Poppins"/>
              </a:rPr>
              <a:t>Machine learning · conformal prediction · controlled human-subject experiment · Streamlit</a:t>
            </a:r>
          </a:p>
        </p:txBody>
      </p:sp>
      <p:sp>
        <p:nvSpPr>
          <p:cNvPr id="6" name="TextBox 5"/>
          <p:cNvSpPr txBox="1"/>
          <p:nvPr/>
        </p:nvSpPr>
        <p:spPr>
          <a:xfrm>
            <a:off x="822960" y="6035040"/>
            <a:ext cx="10058400" cy="365760"/>
          </a:xfrm>
          <a:prstGeom prst="rect">
            <a:avLst/>
          </a:prstGeom>
          <a:noFill/>
        </p:spPr>
        <p:txBody>
          <a:bodyPr wrap="square">
            <a:spAutoFit/>
          </a:bodyPr>
          <a:lstStyle/>
          <a:p>
            <a:pPr algn="l">
              <a:spcAft>
                <a:spcPts val="400"/>
              </a:spcAft>
            </a:pPr>
            <a:r>
              <a:rPr sz="1100" b="0">
                <a:solidFill>
                  <a:srgbClr val="8FA1B8"/>
                </a:solidFill>
                <a:latin typeface="Poppins"/>
              </a:rPr>
              <a:t>Pratik Dagar · SGT University ·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pPr algn="l">
              <a:spcAft>
                <a:spcPts val="400"/>
              </a:spcAft>
            </a:pPr>
            <a:r>
              <a:rPr sz="1100" b="1">
                <a:solidFill>
                  <a:srgbClr val="8494A7"/>
                </a:solidFill>
                <a:latin typeface="Poppins"/>
              </a:rPr>
              <a:t>MOTIVATION</a:t>
            </a:r>
          </a:p>
        </p:txBody>
      </p:sp>
      <p:sp>
        <p:nvSpPr>
          <p:cNvPr id="3" name="TextBox 2"/>
          <p:cNvSpPr txBox="1"/>
          <p:nvPr/>
        </p:nvSpPr>
        <p:spPr>
          <a:xfrm>
            <a:off x="640080" y="685800"/>
            <a:ext cx="10881360" cy="822960"/>
          </a:xfrm>
          <a:prstGeom prst="rect">
            <a:avLst/>
          </a:prstGeom>
          <a:noFill/>
        </p:spPr>
        <p:txBody>
          <a:bodyPr wrap="square">
            <a:spAutoFit/>
          </a:bodyPr>
          <a:lstStyle/>
          <a:p>
            <a:pPr algn="l">
              <a:spcAft>
                <a:spcPts val="400"/>
              </a:spcAft>
            </a:pPr>
            <a:r>
              <a:rPr sz="3000" b="1">
                <a:solidFill>
                  <a:srgbClr val="16202E"/>
                </a:solidFill>
                <a:latin typeface="Poppins"/>
              </a:rPr>
              <a:t>The problem &amp; the research question</a:t>
            </a:r>
          </a:p>
        </p:txBody>
      </p:sp>
      <p:sp>
        <p:nvSpPr>
          <p:cNvPr id="4" name="TextBox 3"/>
          <p:cNvSpPr txBox="1"/>
          <p:nvPr/>
        </p:nvSpPr>
        <p:spPr>
          <a:xfrm>
            <a:off x="640080" y="1554480"/>
            <a:ext cx="5669280" cy="4572000"/>
          </a:xfrm>
          <a:prstGeom prst="rect">
            <a:avLst/>
          </a:prstGeom>
          <a:noFill/>
        </p:spPr>
        <p:txBody>
          <a:bodyPr wrap="square">
            <a:spAutoFit/>
          </a:bodyPr>
          <a:lstStyle/>
          <a:p>
            <a:pPr algn="l">
              <a:spcAft>
                <a:spcPts val="1400"/>
              </a:spcAft>
            </a:pPr>
            <a:r>
              <a:rPr sz="1400" b="1">
                <a:solidFill>
                  <a:srgbClr val="16202E"/>
                </a:solidFill>
                <a:latin typeface="Poppins"/>
              </a:rPr>
              <a:t>Weather apps show a point prediction.  </a:t>
            </a:r>
            <a:r>
              <a:rPr sz="1400" b="0">
                <a:solidFill>
                  <a:srgbClr val="4C5A6B"/>
                </a:solidFill>
                <a:latin typeface="Poppins"/>
              </a:rPr>
              <a:t>"Rain: 78%" hides whether the model can actually rule out the alternative outcome.</a:t>
            </a:r>
          </a:p>
          <a:p>
            <a:pPr algn="l">
              <a:spcAft>
                <a:spcPts val="1400"/>
              </a:spcAft>
            </a:pPr>
            <a:r>
              <a:rPr sz="1400" b="1">
                <a:solidFill>
                  <a:srgbClr val="16202E"/>
                </a:solidFill>
                <a:latin typeface="Poppins"/>
              </a:rPr>
              <a:t>Decisions happen under uncertainty.  </a:t>
            </a:r>
            <a:r>
              <a:rPr sz="1400" b="0">
                <a:solidFill>
                  <a:srgbClr val="4C5A6B"/>
                </a:solidFill>
                <a:latin typeface="Poppins"/>
              </a:rPr>
              <a:t>Whether to plan an outdoor event depends on how decisively the model separates rain from no rain.</a:t>
            </a:r>
          </a:p>
          <a:p>
            <a:pPr algn="l">
              <a:spcAft>
                <a:spcPts val="1400"/>
              </a:spcAft>
            </a:pPr>
            <a:r>
              <a:rPr sz="1400" b="1">
                <a:solidFill>
                  <a:srgbClr val="16202E"/>
                </a:solidFill>
                <a:latin typeface="Poppins"/>
              </a:rPr>
              <a:t>Poorly communicated uncertainty  </a:t>
            </a:r>
            <a:r>
              <a:rPr sz="1400" b="0">
                <a:solidFill>
                  <a:srgbClr val="4C5A6B"/>
                </a:solidFill>
                <a:latin typeface="Poppins"/>
              </a:rPr>
              <a:t>leads to overconfident or overly conservative decisions.</a:t>
            </a:r>
          </a:p>
        </p:txBody>
      </p:sp>
      <p:sp>
        <p:nvSpPr>
          <p:cNvPr id="5" name="Rectangle 4"/>
          <p:cNvSpPr/>
          <p:nvPr/>
        </p:nvSpPr>
        <p:spPr>
          <a:xfrm>
            <a:off x="6583680" y="1554480"/>
            <a:ext cx="4937760" cy="32004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0" y="1783080"/>
            <a:ext cx="4389120" cy="274320"/>
          </a:xfrm>
          <a:prstGeom prst="rect">
            <a:avLst/>
          </a:prstGeom>
          <a:noFill/>
        </p:spPr>
        <p:txBody>
          <a:bodyPr wrap="square">
            <a:spAutoFit/>
          </a:bodyPr>
          <a:lstStyle/>
          <a:p>
            <a:pPr algn="l">
              <a:spcAft>
                <a:spcPts val="400"/>
              </a:spcAft>
            </a:pPr>
            <a:r>
              <a:rPr sz="1000" b="1">
                <a:solidFill>
                  <a:srgbClr val="8FA1B8"/>
                </a:solidFill>
                <a:latin typeface="Poppins"/>
              </a:rPr>
              <a:t>RESEARCH QUESTION</a:t>
            </a:r>
          </a:p>
        </p:txBody>
      </p:sp>
      <p:sp>
        <p:nvSpPr>
          <p:cNvPr id="7" name="TextBox 6"/>
          <p:cNvSpPr txBox="1"/>
          <p:nvPr/>
        </p:nvSpPr>
        <p:spPr>
          <a:xfrm>
            <a:off x="6858000" y="2148840"/>
            <a:ext cx="4389120" cy="1737360"/>
          </a:xfrm>
          <a:prstGeom prst="rect">
            <a:avLst/>
          </a:prstGeom>
          <a:noFill/>
        </p:spPr>
        <p:txBody>
          <a:bodyPr wrap="square">
            <a:spAutoFit/>
          </a:bodyPr>
          <a:lstStyle/>
          <a:p>
            <a:pPr algn="l">
              <a:spcAft>
                <a:spcPts val="400"/>
              </a:spcAft>
            </a:pPr>
            <a:r>
              <a:rPr sz="1600" b="1">
                <a:solidFill>
                  <a:srgbClr val="FFFFFF"/>
                </a:solidFill>
                <a:latin typeface="Poppins"/>
              </a:rPr>
              <a:t>Does communicating uncertainty in rainfall predictions improve human decision-making compared with presenting only a point prediction?</a:t>
            </a:r>
          </a:p>
        </p:txBody>
      </p:sp>
      <p:sp>
        <p:nvSpPr>
          <p:cNvPr id="8" name="TextBox 7"/>
          <p:cNvSpPr txBox="1"/>
          <p:nvPr/>
        </p:nvSpPr>
        <p:spPr>
          <a:xfrm>
            <a:off x="6858000" y="3977639"/>
            <a:ext cx="4389120" cy="640080"/>
          </a:xfrm>
          <a:prstGeom prst="rect">
            <a:avLst/>
          </a:prstGeom>
          <a:noFill/>
        </p:spPr>
        <p:txBody>
          <a:bodyPr wrap="square">
            <a:spAutoFit/>
          </a:bodyPr>
          <a:lstStyle/>
          <a:p>
            <a:pPr algn="l">
              <a:spcAft>
                <a:spcPts val="400"/>
              </a:spcAft>
            </a:pPr>
            <a:r>
              <a:rPr sz="1100" b="1">
                <a:solidFill>
                  <a:srgbClr val="FFFFFF"/>
                </a:solidFill>
                <a:latin typeface="Poppins"/>
              </a:rPr>
              <a:t>Primary outcome — </a:t>
            </a:r>
            <a:r>
              <a:rPr sz="1100" b="0">
                <a:solidFill>
                  <a:srgbClr val="C3D0E0"/>
                </a:solidFill>
                <a:latin typeface="Poppins"/>
              </a:rPr>
              <a:t>decision accuracy</a:t>
            </a:r>
          </a:p>
          <a:p>
            <a:pPr algn="l">
              <a:spcAft>
                <a:spcPts val="400"/>
              </a:spcAft>
            </a:pPr>
            <a:r>
              <a:rPr sz="1100" b="1">
                <a:solidFill>
                  <a:srgbClr val="FFFFFF"/>
                </a:solidFill>
                <a:latin typeface="Poppins"/>
              </a:rPr>
              <a:t>Secondary — </a:t>
            </a:r>
            <a:r>
              <a:rPr sz="1100" b="0">
                <a:solidFill>
                  <a:srgbClr val="C3D0E0"/>
                </a:solidFill>
                <a:latin typeface="Poppins"/>
              </a:rPr>
              <a:t>decision time · stated confidence · overconfidence · decision changes</a:t>
            </a:r>
          </a:p>
        </p:txBody>
      </p:sp>
      <p:sp>
        <p:nvSpPr>
          <p:cNvPr id="9" name="TextBox 8"/>
          <p:cNvSpPr txBox="1"/>
          <p:nvPr/>
        </p:nvSpPr>
        <p:spPr>
          <a:xfrm>
            <a:off x="640080" y="5120640"/>
            <a:ext cx="10972800" cy="1097280"/>
          </a:xfrm>
          <a:prstGeom prst="rect">
            <a:avLst/>
          </a:prstGeom>
          <a:noFill/>
        </p:spPr>
        <p:txBody>
          <a:bodyPr wrap="square">
            <a:spAutoFit/>
          </a:bodyPr>
          <a:lstStyle/>
          <a:p>
            <a:pPr algn="l">
              <a:spcAft>
                <a:spcPts val="400"/>
              </a:spcAft>
            </a:pPr>
            <a:r>
              <a:rPr sz="1300" b="1">
                <a:solidFill>
                  <a:srgbClr val="16202E"/>
                </a:solidFill>
                <a:latin typeface="Poppins"/>
              </a:rPr>
              <a:t>The system: </a:t>
            </a:r>
            <a:r>
              <a:rPr sz="1300" b="0">
                <a:solidFill>
                  <a:srgbClr val="4C5A6B"/>
                </a:solidFill>
                <a:latin typeface="Poppins"/>
              </a:rPr>
              <a:t>a full ML pipeline on ~1M Indian weather observations, an uncertainty layer with statistical guarantees (split conformal prediction), a professional dashboard, and a built-in controlled experiment that logs real human decisions and analyses them statistically.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pPr algn="l">
              <a:spcAft>
                <a:spcPts val="400"/>
              </a:spcAft>
            </a:pPr>
            <a:r>
              <a:rPr sz="1100" b="1">
                <a:solidFill>
                  <a:srgbClr val="8494A7"/>
                </a:solidFill>
                <a:latin typeface="Poppins"/>
              </a:rPr>
              <a:t>WHAT IT USES</a:t>
            </a:r>
          </a:p>
        </p:txBody>
      </p:sp>
      <p:sp>
        <p:nvSpPr>
          <p:cNvPr id="3" name="TextBox 2"/>
          <p:cNvSpPr txBox="1"/>
          <p:nvPr/>
        </p:nvSpPr>
        <p:spPr>
          <a:xfrm>
            <a:off x="640080" y="685800"/>
            <a:ext cx="10881360" cy="822960"/>
          </a:xfrm>
          <a:prstGeom prst="rect">
            <a:avLst/>
          </a:prstGeom>
          <a:noFill/>
        </p:spPr>
        <p:txBody>
          <a:bodyPr wrap="square">
            <a:spAutoFit/>
          </a:bodyPr>
          <a:lstStyle/>
          <a:p>
            <a:pPr algn="l">
              <a:spcAft>
                <a:spcPts val="400"/>
              </a:spcAft>
            </a:pPr>
            <a:r>
              <a:rPr sz="3000" b="1">
                <a:solidFill>
                  <a:srgbClr val="16202E"/>
                </a:solidFill>
                <a:latin typeface="Poppins"/>
              </a:rPr>
              <a:t>Dataset &amp; technology stack</a:t>
            </a:r>
          </a:p>
        </p:txBody>
      </p:sp>
      <p:sp>
        <p:nvSpPr>
          <p:cNvPr id="4" name="TextBox 3"/>
          <p:cNvSpPr txBox="1"/>
          <p:nvPr/>
        </p:nvSpPr>
        <p:spPr>
          <a:xfrm>
            <a:off x="640080" y="1417320"/>
            <a:ext cx="5486400" cy="274320"/>
          </a:xfrm>
          <a:prstGeom prst="rect">
            <a:avLst/>
          </a:prstGeom>
          <a:noFill/>
        </p:spPr>
        <p:txBody>
          <a:bodyPr wrap="square">
            <a:spAutoFit/>
          </a:bodyPr>
          <a:lstStyle/>
          <a:p>
            <a:pPr algn="l">
              <a:spcAft>
                <a:spcPts val="400"/>
              </a:spcAft>
            </a:pPr>
            <a:r>
              <a:rPr sz="1100" b="1">
                <a:solidFill>
                  <a:srgbClr val="2A78D6"/>
                </a:solidFill>
                <a:latin typeface="Poppins"/>
              </a:rPr>
              <a:t>DATASET — Kaggle: Indian Rainfall and Weather Data</a:t>
            </a:r>
          </a:p>
        </p:txBody>
      </p:sp>
      <p:sp>
        <p:nvSpPr>
          <p:cNvPr id="5" name="TextBox 4"/>
          <p:cNvSpPr txBox="1"/>
          <p:nvPr/>
        </p:nvSpPr>
        <p:spPr>
          <a:xfrm>
            <a:off x="640080" y="1783080"/>
            <a:ext cx="5486400" cy="4572000"/>
          </a:xfrm>
          <a:prstGeom prst="rect">
            <a:avLst/>
          </a:prstGeom>
          <a:noFill/>
        </p:spPr>
        <p:txBody>
          <a:bodyPr wrap="square">
            <a:spAutoFit/>
          </a:bodyPr>
          <a:lstStyle/>
          <a:p>
            <a:pPr algn="l">
              <a:spcAft>
                <a:spcPts val="1000"/>
              </a:spcAft>
            </a:pPr>
            <a:r>
              <a:rPr sz="1250" b="1">
                <a:solidFill>
                  <a:srgbClr val="16202E"/>
                </a:solidFill>
                <a:latin typeface="Poppins"/>
              </a:rPr>
              <a:t>970,339 daily observations  </a:t>
            </a:r>
            <a:r>
              <a:rPr sz="1250" b="0">
                <a:solidFill>
                  <a:srgbClr val="4C5A6B"/>
                </a:solidFill>
                <a:latin typeface="Poppins"/>
              </a:rPr>
              <a:t>across 406 Indian stations</a:t>
            </a:r>
          </a:p>
          <a:p>
            <a:pPr algn="l">
              <a:spcAft>
                <a:spcPts val="1000"/>
              </a:spcAft>
            </a:pPr>
            <a:r>
              <a:rPr sz="1250" b="1">
                <a:solidFill>
                  <a:srgbClr val="16202E"/>
                </a:solidFill>
                <a:latin typeface="Poppins"/>
              </a:rPr>
              <a:t>2015-01-01 → 2025-02-10  </a:t>
            </a:r>
            <a:r>
              <a:rPr sz="1250" b="0">
                <a:solidFill>
                  <a:srgbClr val="4C5A6B"/>
                </a:solidFill>
                <a:latin typeface="Poppins"/>
              </a:rPr>
              <a:t>date, station, state, district</a:t>
            </a:r>
          </a:p>
          <a:p>
            <a:pPr algn="l">
              <a:spcAft>
                <a:spcPts val="1000"/>
              </a:spcAft>
            </a:pPr>
            <a:r>
              <a:rPr sz="1250" b="1">
                <a:solidFill>
                  <a:srgbClr val="16202E"/>
                </a:solidFill>
                <a:latin typeface="Poppins"/>
              </a:rPr>
              <a:t>Weather variables:  </a:t>
            </a:r>
            <a:r>
              <a:rPr sz="1250" b="0">
                <a:solidFill>
                  <a:srgbClr val="4C5A6B"/>
                </a:solidFill>
                <a:latin typeface="Poppins"/>
              </a:rPr>
              <a:t>avg/min/max temperature, wind speed, air pressure, rainfall, latitude, longitude, elevation, season</a:t>
            </a:r>
          </a:p>
          <a:p>
            <a:pPr algn="l">
              <a:spcAft>
                <a:spcPts val="1000"/>
              </a:spcAft>
            </a:pPr>
            <a:r>
              <a:rPr sz="1250" b="1">
                <a:solidFill>
                  <a:srgbClr val="16202E"/>
                </a:solidFill>
                <a:latin typeface="Poppins"/>
              </a:rPr>
              <a:t>Real-world messiness:  </a:t>
            </a:r>
            <a:r>
              <a:rPr sz="1250" b="0">
                <a:solidFill>
                  <a:srgbClr val="4C5A6B"/>
                </a:solidFill>
                <a:latin typeface="Poppins"/>
              </a:rPr>
              <a:t>26.5% missing rainfall, ~30% missing wind/pressure, 43k duplicate station-days, impossible values (max_temp = 87 °C)</a:t>
            </a:r>
          </a:p>
        </p:txBody>
      </p:sp>
      <p:sp>
        <p:nvSpPr>
          <p:cNvPr id="6" name="TextBox 5"/>
          <p:cNvSpPr txBox="1"/>
          <p:nvPr/>
        </p:nvSpPr>
        <p:spPr>
          <a:xfrm>
            <a:off x="6492240" y="1417320"/>
            <a:ext cx="5486400" cy="274320"/>
          </a:xfrm>
          <a:prstGeom prst="rect">
            <a:avLst/>
          </a:prstGeom>
          <a:noFill/>
        </p:spPr>
        <p:txBody>
          <a:bodyPr wrap="square">
            <a:spAutoFit/>
          </a:bodyPr>
          <a:lstStyle/>
          <a:p>
            <a:pPr algn="l">
              <a:spcAft>
                <a:spcPts val="400"/>
              </a:spcAft>
            </a:pPr>
            <a:r>
              <a:rPr sz="1100" b="1">
                <a:solidFill>
                  <a:srgbClr val="2A78D6"/>
                </a:solidFill>
                <a:latin typeface="Poppins"/>
              </a:rPr>
              <a:t>TECHNOLOGY</a:t>
            </a:r>
          </a:p>
        </p:txBody>
      </p:sp>
      <p:sp>
        <p:nvSpPr>
          <p:cNvPr id="7" name="TextBox 6"/>
          <p:cNvSpPr txBox="1"/>
          <p:nvPr/>
        </p:nvSpPr>
        <p:spPr>
          <a:xfrm>
            <a:off x="6492240" y="1783080"/>
            <a:ext cx="5120640" cy="4572000"/>
          </a:xfrm>
          <a:prstGeom prst="rect">
            <a:avLst/>
          </a:prstGeom>
          <a:noFill/>
        </p:spPr>
        <p:txBody>
          <a:bodyPr wrap="square">
            <a:spAutoFit/>
          </a:bodyPr>
          <a:lstStyle/>
          <a:p>
            <a:pPr algn="l">
              <a:spcAft>
                <a:spcPts val="800"/>
              </a:spcAft>
            </a:pPr>
            <a:r>
              <a:rPr sz="1250" b="1">
                <a:solidFill>
                  <a:srgbClr val="16202E"/>
                </a:solidFill>
                <a:latin typeface="Poppins"/>
              </a:rPr>
              <a:t>Python 3.10+  </a:t>
            </a:r>
            <a:r>
              <a:rPr sz="1250" b="0">
                <a:solidFill>
                  <a:srgbClr val="4C5A6B"/>
                </a:solidFill>
                <a:latin typeface="Poppins"/>
              </a:rPr>
              <a:t>pandas · numpy · pyarrow for the data layer</a:t>
            </a:r>
          </a:p>
          <a:p>
            <a:pPr algn="l">
              <a:spcAft>
                <a:spcPts val="800"/>
              </a:spcAft>
            </a:pPr>
            <a:r>
              <a:rPr sz="1250" b="1">
                <a:solidFill>
                  <a:srgbClr val="16202E"/>
                </a:solidFill>
                <a:latin typeface="Poppins"/>
              </a:rPr>
              <a:t>scikit-learn  </a:t>
            </a:r>
            <a:r>
              <a:rPr sz="1250" b="0">
                <a:solidFill>
                  <a:srgbClr val="4C5A6B"/>
                </a:solidFill>
                <a:latin typeface="Poppins"/>
              </a:rPr>
              <a:t>Random Forest, Logistic Regression, HistGradientBoosting, isotonic/Platt calibration, permutation importance</a:t>
            </a:r>
          </a:p>
          <a:p>
            <a:pPr algn="l">
              <a:spcAft>
                <a:spcPts val="800"/>
              </a:spcAft>
            </a:pPr>
            <a:r>
              <a:rPr sz="1250" b="1">
                <a:solidFill>
                  <a:srgbClr val="16202E"/>
                </a:solidFill>
                <a:latin typeface="Poppins"/>
              </a:rPr>
              <a:t>Own conformal layer  </a:t>
            </a:r>
            <a:r>
              <a:rPr sz="1250" b="0">
                <a:solidFill>
                  <a:srgbClr val="4C5A6B"/>
                </a:solidFill>
                <a:latin typeface="Poppins"/>
              </a:rPr>
              <a:t>split conformal prediction (LAC score)</a:t>
            </a:r>
          </a:p>
          <a:p>
            <a:pPr algn="l">
              <a:spcAft>
                <a:spcPts val="800"/>
              </a:spcAft>
            </a:pPr>
            <a:r>
              <a:rPr sz="1250" b="1">
                <a:solidFill>
                  <a:srgbClr val="16202E"/>
                </a:solidFill>
                <a:latin typeface="Poppins"/>
              </a:rPr>
              <a:t>scipy  </a:t>
            </a:r>
            <a:r>
              <a:rPr sz="1250" b="0">
                <a:solidFill>
                  <a:srgbClr val="4C5A6B"/>
                </a:solidFill>
                <a:latin typeface="Poppins"/>
              </a:rPr>
              <a:t>Fisher / chi-square / Mann-Whitney / Welch tests, effect sizes</a:t>
            </a:r>
          </a:p>
          <a:p>
            <a:pPr algn="l">
              <a:spcAft>
                <a:spcPts val="800"/>
              </a:spcAft>
            </a:pPr>
            <a:r>
              <a:rPr sz="1250" b="1">
                <a:solidFill>
                  <a:srgbClr val="16202E"/>
                </a:solidFill>
                <a:latin typeface="Poppins"/>
              </a:rPr>
              <a:t>Open-Meteo API  </a:t>
            </a:r>
            <a:r>
              <a:rPr sz="1250" b="0">
                <a:solidFill>
                  <a:srgbClr val="4C5A6B"/>
                </a:solidFill>
                <a:latin typeface="Poppins"/>
              </a:rPr>
              <a:t>live current conditions for real-time forecasts (no key; climatology fallback when offline)</a:t>
            </a:r>
          </a:p>
          <a:p>
            <a:pPr algn="l">
              <a:spcAft>
                <a:spcPts val="800"/>
              </a:spcAft>
            </a:pPr>
            <a:r>
              <a:rPr sz="1250" b="1">
                <a:solidFill>
                  <a:srgbClr val="16202E"/>
                </a:solidFill>
                <a:latin typeface="Poppins"/>
              </a:rPr>
              <a:t>Streamlit + Plotly  </a:t>
            </a:r>
            <a:r>
              <a:rPr sz="1250" b="0">
                <a:solidFill>
                  <a:srgbClr val="4C5A6B"/>
                </a:solidFill>
                <a:latin typeface="Poppins"/>
              </a:rPr>
              <a:t>interactive dashboard, custom design system</a:t>
            </a:r>
          </a:p>
          <a:p>
            <a:pPr algn="l">
              <a:spcAft>
                <a:spcPts val="800"/>
              </a:spcAft>
            </a:pPr>
            <a:r>
              <a:rPr sz="1250" b="1">
                <a:solidFill>
                  <a:srgbClr val="16202E"/>
                </a:solidFill>
                <a:latin typeface="Poppins"/>
              </a:rPr>
              <a:t>SQLite + joblib  </a:t>
            </a:r>
            <a:r>
              <a:rPr sz="1250" b="0">
                <a:solidFill>
                  <a:srgbClr val="4C5A6B"/>
                </a:solidFill>
                <a:latin typeface="Poppins"/>
              </a:rPr>
              <a:t>decision logging and cached model artifacts</a:t>
            </a:r>
          </a:p>
        </p:txBody>
      </p:sp>
      <p:sp>
        <p:nvSpPr>
          <p:cNvPr id="8" name="Rectangle 7"/>
          <p:cNvSpPr/>
          <p:nvPr/>
        </p:nvSpPr>
        <p:spPr>
          <a:xfrm>
            <a:off x="640080" y="5806440"/>
            <a:ext cx="10972800" cy="594360"/>
          </a:xfrm>
          <a:prstGeom prst="rect">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943600"/>
            <a:ext cx="10515600" cy="365760"/>
          </a:xfrm>
          <a:prstGeom prst="rect">
            <a:avLst/>
          </a:prstGeom>
          <a:noFill/>
        </p:spPr>
        <p:txBody>
          <a:bodyPr wrap="square">
            <a:spAutoFit/>
          </a:bodyPr>
          <a:lstStyle/>
          <a:p>
            <a:pPr algn="l">
              <a:spcAft>
                <a:spcPts val="400"/>
              </a:spcAft>
            </a:pPr>
            <a:r>
              <a:rPr sz="1150" b="1">
                <a:solidFill>
                  <a:srgbClr val="16202E"/>
                </a:solidFill>
                <a:latin typeface="Poppins"/>
              </a:rPr>
              <a:t>Schema-agnostic: </a:t>
            </a:r>
            <a:r>
              <a:rPr sz="1150" b="0">
                <a:solidFill>
                  <a:srgbClr val="4C5A6B"/>
                </a:solidFill>
                <a:latin typeface="Poppins"/>
              </a:rPr>
              <a:t>the loader auto-detects which column plays which role and exposes a manual mapping override — any compatible weather dataset can be dropped into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pPr algn="l">
              <a:spcAft>
                <a:spcPts val="400"/>
              </a:spcAft>
            </a:pPr>
            <a:r>
              <a:rPr sz="1100" b="1">
                <a:solidFill>
                  <a:srgbClr val="8494A7"/>
                </a:solidFill>
                <a:latin typeface="Poppins"/>
              </a:rPr>
              <a:t>HOW IT WORKS</a:t>
            </a:r>
          </a:p>
        </p:txBody>
      </p:sp>
      <p:sp>
        <p:nvSpPr>
          <p:cNvPr id="3" name="TextBox 2"/>
          <p:cNvSpPr txBox="1"/>
          <p:nvPr/>
        </p:nvSpPr>
        <p:spPr>
          <a:xfrm>
            <a:off x="640080" y="685800"/>
            <a:ext cx="10881360" cy="822960"/>
          </a:xfrm>
          <a:prstGeom prst="rect">
            <a:avLst/>
          </a:prstGeom>
          <a:noFill/>
        </p:spPr>
        <p:txBody>
          <a:bodyPr wrap="square">
            <a:spAutoFit/>
          </a:bodyPr>
          <a:lstStyle/>
          <a:p>
            <a:pPr algn="l">
              <a:spcAft>
                <a:spcPts val="400"/>
              </a:spcAft>
            </a:pPr>
            <a:r>
              <a:rPr sz="3000" b="1">
                <a:solidFill>
                  <a:srgbClr val="16202E"/>
                </a:solidFill>
                <a:latin typeface="Poppins"/>
              </a:rPr>
              <a:t>End-to-end pipeline</a:t>
            </a:r>
          </a:p>
        </p:txBody>
      </p:sp>
      <p:sp>
        <p:nvSpPr>
          <p:cNvPr id="4" name="Rectangle 3"/>
          <p:cNvSpPr/>
          <p:nvPr/>
        </p:nvSpPr>
        <p:spPr>
          <a:xfrm>
            <a:off x="640080" y="1463040"/>
            <a:ext cx="384048" cy="3840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4188"/>
            <a:ext cx="384048" cy="320040"/>
          </a:xfrm>
          <a:prstGeom prst="rect">
            <a:avLst/>
          </a:prstGeom>
          <a:noFill/>
        </p:spPr>
        <p:txBody>
          <a:bodyPr wrap="square">
            <a:spAutoFit/>
          </a:bodyPr>
          <a:lstStyle/>
          <a:p>
            <a:pPr algn="ctr">
              <a:spcAft>
                <a:spcPts val="400"/>
              </a:spcAft>
            </a:pPr>
            <a:r>
              <a:rPr sz="1300" b="1">
                <a:solidFill>
                  <a:srgbClr val="FFFFFF"/>
                </a:solidFill>
                <a:latin typeface="Poppins"/>
              </a:rPr>
              <a:t>1</a:t>
            </a:r>
          </a:p>
        </p:txBody>
      </p:sp>
      <p:sp>
        <p:nvSpPr>
          <p:cNvPr id="6" name="TextBox 5"/>
          <p:cNvSpPr txBox="1"/>
          <p:nvPr/>
        </p:nvSpPr>
        <p:spPr>
          <a:xfrm>
            <a:off x="1234440" y="1444752"/>
            <a:ext cx="10332720" cy="685800"/>
          </a:xfrm>
          <a:prstGeom prst="rect">
            <a:avLst/>
          </a:prstGeom>
          <a:noFill/>
        </p:spPr>
        <p:txBody>
          <a:bodyPr wrap="square">
            <a:spAutoFit/>
          </a:bodyPr>
          <a:lstStyle/>
          <a:p>
            <a:pPr algn="l">
              <a:spcAft>
                <a:spcPts val="400"/>
              </a:spcAft>
            </a:pPr>
            <a:r>
              <a:rPr sz="1350" b="1">
                <a:solidFill>
                  <a:srgbClr val="16202E"/>
                </a:solidFill>
                <a:latin typeface="Poppins"/>
              </a:rPr>
              <a:t>Inspect &amp; clean   </a:t>
            </a:r>
            <a:r>
              <a:rPr sz="1200" b="0">
                <a:solidFill>
                  <a:srgbClr val="4C5A6B"/>
                </a:solidFill>
                <a:latin typeface="Poppins"/>
              </a:rPr>
              <a:t>auto column mapping, dedup, physical bounds, station-month median imputation</a:t>
            </a:r>
          </a:p>
        </p:txBody>
      </p:sp>
      <p:sp>
        <p:nvSpPr>
          <p:cNvPr id="7" name="Rectangle 6"/>
          <p:cNvSpPr/>
          <p:nvPr/>
        </p:nvSpPr>
        <p:spPr>
          <a:xfrm>
            <a:off x="640080" y="2176272"/>
            <a:ext cx="384048" cy="3840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17420"/>
            <a:ext cx="384048" cy="320040"/>
          </a:xfrm>
          <a:prstGeom prst="rect">
            <a:avLst/>
          </a:prstGeom>
          <a:noFill/>
        </p:spPr>
        <p:txBody>
          <a:bodyPr wrap="square">
            <a:spAutoFit/>
          </a:bodyPr>
          <a:lstStyle/>
          <a:p>
            <a:pPr algn="ctr">
              <a:spcAft>
                <a:spcPts val="400"/>
              </a:spcAft>
            </a:pPr>
            <a:r>
              <a:rPr sz="1300" b="1">
                <a:solidFill>
                  <a:srgbClr val="FFFFFF"/>
                </a:solidFill>
                <a:latin typeface="Poppins"/>
              </a:rPr>
              <a:t>2</a:t>
            </a:r>
          </a:p>
        </p:txBody>
      </p:sp>
      <p:sp>
        <p:nvSpPr>
          <p:cNvPr id="9" name="TextBox 8"/>
          <p:cNvSpPr txBox="1"/>
          <p:nvPr/>
        </p:nvSpPr>
        <p:spPr>
          <a:xfrm>
            <a:off x="1234440" y="2157984"/>
            <a:ext cx="10332720" cy="685800"/>
          </a:xfrm>
          <a:prstGeom prst="rect">
            <a:avLst/>
          </a:prstGeom>
          <a:noFill/>
        </p:spPr>
        <p:txBody>
          <a:bodyPr wrap="square">
            <a:spAutoFit/>
          </a:bodyPr>
          <a:lstStyle/>
          <a:p>
            <a:pPr algn="l">
              <a:spcAft>
                <a:spcPts val="400"/>
              </a:spcAft>
            </a:pPr>
            <a:r>
              <a:rPr sz="1350" b="1">
                <a:solidFill>
                  <a:srgbClr val="16202E"/>
                </a:solidFill>
                <a:latin typeface="Poppins"/>
              </a:rPr>
              <a:t>Build the target   </a:t>
            </a:r>
            <a:r>
              <a:rPr sz="1200" b="0">
                <a:solidFill>
                  <a:srgbClr val="4C5A6B"/>
                </a:solidFill>
                <a:latin typeface="Poppins"/>
              </a:rPr>
              <a:t>RainTomorrow = next-day observed rainfall ≥ 2.5 mm, same station only, calendar-gap guard</a:t>
            </a:r>
          </a:p>
        </p:txBody>
      </p:sp>
      <p:sp>
        <p:nvSpPr>
          <p:cNvPr id="10" name="Rectangle 9"/>
          <p:cNvSpPr/>
          <p:nvPr/>
        </p:nvSpPr>
        <p:spPr>
          <a:xfrm>
            <a:off x="640080" y="2889504"/>
            <a:ext cx="384048" cy="3840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930652"/>
            <a:ext cx="384048" cy="320040"/>
          </a:xfrm>
          <a:prstGeom prst="rect">
            <a:avLst/>
          </a:prstGeom>
          <a:noFill/>
        </p:spPr>
        <p:txBody>
          <a:bodyPr wrap="square">
            <a:spAutoFit/>
          </a:bodyPr>
          <a:lstStyle/>
          <a:p>
            <a:pPr algn="ctr">
              <a:spcAft>
                <a:spcPts val="400"/>
              </a:spcAft>
            </a:pPr>
            <a:r>
              <a:rPr sz="1300" b="1">
                <a:solidFill>
                  <a:srgbClr val="FFFFFF"/>
                </a:solidFill>
                <a:latin typeface="Poppins"/>
              </a:rPr>
              <a:t>3</a:t>
            </a:r>
          </a:p>
        </p:txBody>
      </p:sp>
      <p:sp>
        <p:nvSpPr>
          <p:cNvPr id="12" name="TextBox 11"/>
          <p:cNvSpPr txBox="1"/>
          <p:nvPr/>
        </p:nvSpPr>
        <p:spPr>
          <a:xfrm>
            <a:off x="1234440" y="2871216"/>
            <a:ext cx="10332720" cy="685800"/>
          </a:xfrm>
          <a:prstGeom prst="rect">
            <a:avLst/>
          </a:prstGeom>
          <a:noFill/>
        </p:spPr>
        <p:txBody>
          <a:bodyPr wrap="square">
            <a:spAutoFit/>
          </a:bodyPr>
          <a:lstStyle/>
          <a:p>
            <a:pPr algn="l">
              <a:spcAft>
                <a:spcPts val="400"/>
              </a:spcAft>
            </a:pPr>
            <a:r>
              <a:rPr sz="1350" b="1">
                <a:solidFill>
                  <a:srgbClr val="16202E"/>
                </a:solidFill>
                <a:latin typeface="Poppins"/>
              </a:rPr>
              <a:t>Engineer features   </a:t>
            </a:r>
            <a:r>
              <a:rPr sz="1200" b="0">
                <a:solidFill>
                  <a:srgbClr val="4C5A6B"/>
                </a:solidFill>
                <a:latin typeface="Poppins"/>
              </a:rPr>
              <a:t>rain lags 1-3, rolling 3/7-day sums, temp/pressure changes, seasonality, geography — all leakage-safe</a:t>
            </a:r>
          </a:p>
        </p:txBody>
      </p:sp>
      <p:sp>
        <p:nvSpPr>
          <p:cNvPr id="13" name="Rectangle 12"/>
          <p:cNvSpPr/>
          <p:nvPr/>
        </p:nvSpPr>
        <p:spPr>
          <a:xfrm>
            <a:off x="640080" y="3602736"/>
            <a:ext cx="384048" cy="3840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643884"/>
            <a:ext cx="384048" cy="320040"/>
          </a:xfrm>
          <a:prstGeom prst="rect">
            <a:avLst/>
          </a:prstGeom>
          <a:noFill/>
        </p:spPr>
        <p:txBody>
          <a:bodyPr wrap="square">
            <a:spAutoFit/>
          </a:bodyPr>
          <a:lstStyle/>
          <a:p>
            <a:pPr algn="ctr">
              <a:spcAft>
                <a:spcPts val="400"/>
              </a:spcAft>
            </a:pPr>
            <a:r>
              <a:rPr sz="1300" b="1">
                <a:solidFill>
                  <a:srgbClr val="FFFFFF"/>
                </a:solidFill>
                <a:latin typeface="Poppins"/>
              </a:rPr>
              <a:t>4</a:t>
            </a:r>
          </a:p>
        </p:txBody>
      </p:sp>
      <p:sp>
        <p:nvSpPr>
          <p:cNvPr id="15" name="TextBox 14"/>
          <p:cNvSpPr txBox="1"/>
          <p:nvPr/>
        </p:nvSpPr>
        <p:spPr>
          <a:xfrm>
            <a:off x="1234440" y="3584448"/>
            <a:ext cx="10332720" cy="685800"/>
          </a:xfrm>
          <a:prstGeom prst="rect">
            <a:avLst/>
          </a:prstGeom>
          <a:noFill/>
        </p:spPr>
        <p:txBody>
          <a:bodyPr wrap="square">
            <a:spAutoFit/>
          </a:bodyPr>
          <a:lstStyle/>
          <a:p>
            <a:pPr algn="l">
              <a:spcAft>
                <a:spcPts val="400"/>
              </a:spcAft>
            </a:pPr>
            <a:r>
              <a:rPr sz="1350" b="1">
                <a:solidFill>
                  <a:srgbClr val="16202E"/>
                </a:solidFill>
                <a:latin typeface="Poppins"/>
              </a:rPr>
              <a:t>Split chronologically   </a:t>
            </a:r>
            <a:r>
              <a:rPr sz="1200" b="0">
                <a:solidFill>
                  <a:srgbClr val="4C5A6B"/>
                </a:solidFill>
                <a:latin typeface="Poppins"/>
              </a:rPr>
              <a:t>train 2015-01-04 → 2022-01-29 · validation 2022-01-30 → 2023-08-05 · test 2023-08-06 → 2025-02-09</a:t>
            </a:r>
          </a:p>
        </p:txBody>
      </p:sp>
      <p:sp>
        <p:nvSpPr>
          <p:cNvPr id="16" name="Rectangle 15"/>
          <p:cNvSpPr/>
          <p:nvPr/>
        </p:nvSpPr>
        <p:spPr>
          <a:xfrm>
            <a:off x="640080" y="4315968"/>
            <a:ext cx="384048" cy="3840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357116"/>
            <a:ext cx="384048" cy="320040"/>
          </a:xfrm>
          <a:prstGeom prst="rect">
            <a:avLst/>
          </a:prstGeom>
          <a:noFill/>
        </p:spPr>
        <p:txBody>
          <a:bodyPr wrap="square">
            <a:spAutoFit/>
          </a:bodyPr>
          <a:lstStyle/>
          <a:p>
            <a:pPr algn="ctr">
              <a:spcAft>
                <a:spcPts val="400"/>
              </a:spcAft>
            </a:pPr>
            <a:r>
              <a:rPr sz="1300" b="1">
                <a:solidFill>
                  <a:srgbClr val="FFFFFF"/>
                </a:solidFill>
                <a:latin typeface="Poppins"/>
              </a:rPr>
              <a:t>5</a:t>
            </a:r>
          </a:p>
        </p:txBody>
      </p:sp>
      <p:sp>
        <p:nvSpPr>
          <p:cNvPr id="18" name="TextBox 17"/>
          <p:cNvSpPr txBox="1"/>
          <p:nvPr/>
        </p:nvSpPr>
        <p:spPr>
          <a:xfrm>
            <a:off x="1234440" y="4297680"/>
            <a:ext cx="10332720" cy="685800"/>
          </a:xfrm>
          <a:prstGeom prst="rect">
            <a:avLst/>
          </a:prstGeom>
          <a:noFill/>
        </p:spPr>
        <p:txBody>
          <a:bodyPr wrap="square">
            <a:spAutoFit/>
          </a:bodyPr>
          <a:lstStyle/>
          <a:p>
            <a:pPr algn="l">
              <a:spcAft>
                <a:spcPts val="400"/>
              </a:spcAft>
            </a:pPr>
            <a:r>
              <a:rPr sz="1350" b="1">
                <a:solidFill>
                  <a:srgbClr val="16202E"/>
                </a:solidFill>
                <a:latin typeface="Poppins"/>
              </a:rPr>
              <a:t>Train &amp; select   </a:t>
            </a:r>
            <a:r>
              <a:rPr sz="1200" b="0">
                <a:solidFill>
                  <a:srgbClr val="4C5A6B"/>
                </a:solidFill>
                <a:latin typeface="Poppins"/>
              </a:rPr>
              <a:t>RF vs LR vs Gradient Boosting — selected on validation ROC-AUC, never on test</a:t>
            </a:r>
          </a:p>
        </p:txBody>
      </p:sp>
      <p:sp>
        <p:nvSpPr>
          <p:cNvPr id="19" name="Rectangle 18"/>
          <p:cNvSpPr/>
          <p:nvPr/>
        </p:nvSpPr>
        <p:spPr>
          <a:xfrm>
            <a:off x="640080" y="5029200"/>
            <a:ext cx="384048" cy="3840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070348"/>
            <a:ext cx="384048" cy="320040"/>
          </a:xfrm>
          <a:prstGeom prst="rect">
            <a:avLst/>
          </a:prstGeom>
          <a:noFill/>
        </p:spPr>
        <p:txBody>
          <a:bodyPr wrap="square">
            <a:spAutoFit/>
          </a:bodyPr>
          <a:lstStyle/>
          <a:p>
            <a:pPr algn="ctr">
              <a:spcAft>
                <a:spcPts val="400"/>
              </a:spcAft>
            </a:pPr>
            <a:r>
              <a:rPr sz="1300" b="1">
                <a:solidFill>
                  <a:srgbClr val="FFFFFF"/>
                </a:solidFill>
                <a:latin typeface="Poppins"/>
              </a:rPr>
              <a:t>6</a:t>
            </a:r>
          </a:p>
        </p:txBody>
      </p:sp>
      <p:sp>
        <p:nvSpPr>
          <p:cNvPr id="21" name="TextBox 20"/>
          <p:cNvSpPr txBox="1"/>
          <p:nvPr/>
        </p:nvSpPr>
        <p:spPr>
          <a:xfrm>
            <a:off x="1234440" y="5010912"/>
            <a:ext cx="10332720" cy="685800"/>
          </a:xfrm>
          <a:prstGeom prst="rect">
            <a:avLst/>
          </a:prstGeom>
          <a:noFill/>
        </p:spPr>
        <p:txBody>
          <a:bodyPr wrap="square">
            <a:spAutoFit/>
          </a:bodyPr>
          <a:lstStyle/>
          <a:p>
            <a:pPr algn="l">
              <a:spcAft>
                <a:spcPts val="400"/>
              </a:spcAft>
            </a:pPr>
            <a:r>
              <a:rPr sz="1350" b="1">
                <a:solidFill>
                  <a:srgbClr val="16202E"/>
                </a:solidFill>
                <a:latin typeface="Poppins"/>
              </a:rPr>
              <a:t>Calibrate + conformal   </a:t>
            </a:r>
            <a:r>
              <a:rPr sz="1200" b="0">
                <a:solidFill>
                  <a:srgbClr val="4C5A6B"/>
                </a:solidFill>
                <a:latin typeface="Poppins"/>
              </a:rPr>
              <a:t>isotonic/Platt on validation-A, conformal quantile on validation-B (day-parity halves)</a:t>
            </a:r>
          </a:p>
        </p:txBody>
      </p:sp>
      <p:sp>
        <p:nvSpPr>
          <p:cNvPr id="22" name="Rectangle 21"/>
          <p:cNvSpPr/>
          <p:nvPr/>
        </p:nvSpPr>
        <p:spPr>
          <a:xfrm>
            <a:off x="640080" y="5742432"/>
            <a:ext cx="384048" cy="38404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783580"/>
            <a:ext cx="384048" cy="320040"/>
          </a:xfrm>
          <a:prstGeom prst="rect">
            <a:avLst/>
          </a:prstGeom>
          <a:noFill/>
        </p:spPr>
        <p:txBody>
          <a:bodyPr wrap="square">
            <a:spAutoFit/>
          </a:bodyPr>
          <a:lstStyle/>
          <a:p>
            <a:pPr algn="ctr">
              <a:spcAft>
                <a:spcPts val="400"/>
              </a:spcAft>
            </a:pPr>
            <a:r>
              <a:rPr sz="1300" b="1">
                <a:solidFill>
                  <a:srgbClr val="FFFFFF"/>
                </a:solidFill>
                <a:latin typeface="Poppins"/>
              </a:rPr>
              <a:t>7</a:t>
            </a:r>
          </a:p>
        </p:txBody>
      </p:sp>
      <p:sp>
        <p:nvSpPr>
          <p:cNvPr id="24" name="TextBox 23"/>
          <p:cNvSpPr txBox="1"/>
          <p:nvPr/>
        </p:nvSpPr>
        <p:spPr>
          <a:xfrm>
            <a:off x="1234440" y="5724144"/>
            <a:ext cx="10332720" cy="685800"/>
          </a:xfrm>
          <a:prstGeom prst="rect">
            <a:avLst/>
          </a:prstGeom>
          <a:noFill/>
        </p:spPr>
        <p:txBody>
          <a:bodyPr wrap="square">
            <a:spAutoFit/>
          </a:bodyPr>
          <a:lstStyle/>
          <a:p>
            <a:pPr algn="l">
              <a:spcAft>
                <a:spcPts val="400"/>
              </a:spcAft>
            </a:pPr>
            <a:r>
              <a:rPr sz="1350" b="1">
                <a:solidFill>
                  <a:srgbClr val="16202E"/>
                </a:solidFill>
                <a:latin typeface="Poppins"/>
              </a:rPr>
              <a:t>Serve &amp; experiment   </a:t>
            </a:r>
            <a:r>
              <a:rPr sz="1200" b="0">
                <a:solidFill>
                  <a:srgbClr val="4C5A6B"/>
                </a:solidFill>
                <a:latin typeface="Poppins"/>
              </a:rPr>
              <a:t>live forecast for the real tomorrow, decision logging, statistics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pPr algn="l">
              <a:spcAft>
                <a:spcPts val="400"/>
              </a:spcAft>
            </a:pPr>
            <a:r>
              <a:rPr sz="1100" b="1">
                <a:solidFill>
                  <a:srgbClr val="8494A7"/>
                </a:solidFill>
                <a:latin typeface="Poppins"/>
              </a:rPr>
              <a:t>SCIENTIFIC RIGOUR</a:t>
            </a:r>
          </a:p>
        </p:txBody>
      </p:sp>
      <p:sp>
        <p:nvSpPr>
          <p:cNvPr id="3" name="TextBox 2"/>
          <p:cNvSpPr txBox="1"/>
          <p:nvPr/>
        </p:nvSpPr>
        <p:spPr>
          <a:xfrm>
            <a:off x="640080" y="685800"/>
            <a:ext cx="10881360" cy="822960"/>
          </a:xfrm>
          <a:prstGeom prst="rect">
            <a:avLst/>
          </a:prstGeom>
          <a:noFill/>
        </p:spPr>
        <p:txBody>
          <a:bodyPr wrap="square">
            <a:spAutoFit/>
          </a:bodyPr>
          <a:lstStyle/>
          <a:p>
            <a:pPr algn="l">
              <a:spcAft>
                <a:spcPts val="400"/>
              </a:spcAft>
            </a:pPr>
            <a:r>
              <a:rPr sz="3000" b="1">
                <a:solidFill>
                  <a:srgbClr val="16202E"/>
                </a:solidFill>
                <a:latin typeface="Poppins"/>
              </a:rPr>
              <a:t>No data leakage, by construction</a:t>
            </a:r>
          </a:p>
        </p:txBody>
      </p:sp>
      <p:sp>
        <p:nvSpPr>
          <p:cNvPr id="4" name="TextBox 3"/>
          <p:cNvSpPr txBox="1"/>
          <p:nvPr/>
        </p:nvSpPr>
        <p:spPr>
          <a:xfrm>
            <a:off x="640080" y="1554480"/>
            <a:ext cx="10972800" cy="4572000"/>
          </a:xfrm>
          <a:prstGeom prst="rect">
            <a:avLst/>
          </a:prstGeom>
          <a:noFill/>
        </p:spPr>
        <p:txBody>
          <a:bodyPr wrap="square">
            <a:spAutoFit/>
          </a:bodyPr>
          <a:lstStyle/>
          <a:p>
            <a:pPr algn="l">
              <a:spcAft>
                <a:spcPts val="1300"/>
              </a:spcAft>
            </a:pPr>
            <a:r>
              <a:rPr sz="1350" b="1">
                <a:solidFill>
                  <a:srgbClr val="16202E"/>
                </a:solidFill>
                <a:latin typeface="Poppins"/>
              </a:rPr>
              <a:t>Target from the future, features from the past.  </a:t>
            </a:r>
            <a:r>
              <a:rPr sz="1350" b="0">
                <a:solidFill>
                  <a:srgbClr val="4C5A6B"/>
                </a:solidFill>
                <a:latin typeface="Poppins"/>
              </a:rPr>
              <a:t>The label is tomorrow's OBSERVED rainfall (never imputed); every feature uses only the current day or earlier.</a:t>
            </a:r>
          </a:p>
          <a:p>
            <a:pPr algn="l">
              <a:spcAft>
                <a:spcPts val="1300"/>
              </a:spcAft>
            </a:pPr>
            <a:r>
              <a:rPr sz="1350" b="1">
                <a:solidFill>
                  <a:srgbClr val="16202E"/>
                </a:solidFill>
                <a:latin typeface="Poppins"/>
              </a:rPr>
              <a:t>Same-station shifting with a gap guard.  </a:t>
            </a:r>
            <a:r>
              <a:rPr sz="1350" b="0">
                <a:solidFill>
                  <a:srgbClr val="4C5A6B"/>
                </a:solidFill>
                <a:latin typeface="Poppins"/>
              </a:rPr>
              <a:t>groupby(station).shift(-1); if the next record is not literally the next calendar day, the row is dropped rather than mislabeled.</a:t>
            </a:r>
          </a:p>
          <a:p>
            <a:pPr algn="l">
              <a:spcAft>
                <a:spcPts val="1300"/>
              </a:spcAft>
            </a:pPr>
            <a:r>
              <a:rPr sz="1350" b="1">
                <a:solidFill>
                  <a:srgbClr val="16202E"/>
                </a:solidFill>
                <a:latin typeface="Poppins"/>
              </a:rPr>
              <a:t>Chronological evaluation.  </a:t>
            </a:r>
            <a:r>
              <a:rPr sz="1350" b="0">
                <a:solidFill>
                  <a:srgbClr val="4C5A6B"/>
                </a:solidFill>
                <a:latin typeface="Poppins"/>
              </a:rPr>
              <a:t>The test period lies strictly after training — the model is scored the way a real forecaster would be.</a:t>
            </a:r>
          </a:p>
          <a:p>
            <a:pPr algn="l">
              <a:spcAft>
                <a:spcPts val="1300"/>
              </a:spcAft>
            </a:pPr>
            <a:r>
              <a:rPr sz="1350" b="1">
                <a:solidFill>
                  <a:srgbClr val="16202E"/>
                </a:solidFill>
                <a:latin typeface="Poppins"/>
              </a:rPr>
              <a:t>Date-span splitting (a real bug we caught).  </a:t>
            </a:r>
            <a:r>
              <a:rPr sz="1350" b="0">
                <a:solidFill>
                  <a:srgbClr val="4C5A6B"/>
                </a:solidFill>
                <a:latin typeface="Poppins"/>
              </a:rPr>
              <a:t>A naive row-count split left no monsoon months in the calibration window and conformal coverage fell to 83%. Splitting by date span and interleaving calibration halves by day parity restored 90.8%.</a:t>
            </a:r>
          </a:p>
          <a:p>
            <a:pPr algn="l">
              <a:spcAft>
                <a:spcPts val="1300"/>
              </a:spcAft>
            </a:pPr>
            <a:r>
              <a:rPr sz="1350" b="1">
                <a:solidFill>
                  <a:srgbClr val="16202E"/>
                </a:solidFill>
                <a:latin typeface="Poppins"/>
              </a:rPr>
              <a:t>Train-only statistics.  </a:t>
            </a:r>
            <a:r>
              <a:rPr sz="1350" b="0">
                <a:solidFill>
                  <a:srgbClr val="4C5A6B"/>
                </a:solidFill>
                <a:latin typeface="Poppins"/>
              </a:rPr>
              <a:t>Imputation medians for the model matrix come from training rows only; model selection and calibration never touch the test 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pPr algn="l">
              <a:spcAft>
                <a:spcPts val="400"/>
              </a:spcAft>
            </a:pPr>
            <a:r>
              <a:rPr sz="1100" b="1">
                <a:solidFill>
                  <a:srgbClr val="8494A7"/>
                </a:solidFill>
                <a:latin typeface="Poppins"/>
              </a:rPr>
              <a:t>HELD-OUT EVALUATION</a:t>
            </a:r>
          </a:p>
        </p:txBody>
      </p:sp>
      <p:sp>
        <p:nvSpPr>
          <p:cNvPr id="3" name="TextBox 2"/>
          <p:cNvSpPr txBox="1"/>
          <p:nvPr/>
        </p:nvSpPr>
        <p:spPr>
          <a:xfrm>
            <a:off x="640080" y="685800"/>
            <a:ext cx="10881360" cy="822960"/>
          </a:xfrm>
          <a:prstGeom prst="rect">
            <a:avLst/>
          </a:prstGeom>
          <a:noFill/>
        </p:spPr>
        <p:txBody>
          <a:bodyPr wrap="square">
            <a:spAutoFit/>
          </a:bodyPr>
          <a:lstStyle/>
          <a:p>
            <a:pPr algn="l">
              <a:spcAft>
                <a:spcPts val="400"/>
              </a:spcAft>
            </a:pPr>
            <a:r>
              <a:rPr sz="3000" b="1">
                <a:solidFill>
                  <a:srgbClr val="16202E"/>
                </a:solidFill>
                <a:latin typeface="Poppins"/>
              </a:rPr>
              <a:t>Model performance — real numbers, test period</a:t>
            </a:r>
          </a:p>
        </p:txBody>
      </p:sp>
      <p:sp>
        <p:nvSpPr>
          <p:cNvPr id="4" name="Rectangle 3"/>
          <p:cNvSpPr/>
          <p:nvPr/>
        </p:nvSpPr>
        <p:spPr>
          <a:xfrm>
            <a:off x="640080" y="1463040"/>
            <a:ext cx="1755648" cy="960120"/>
          </a:xfrm>
          <a:prstGeom prst="rect">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36192"/>
            <a:ext cx="1481328" cy="274320"/>
          </a:xfrm>
          <a:prstGeom prst="rect">
            <a:avLst/>
          </a:prstGeom>
          <a:noFill/>
        </p:spPr>
        <p:txBody>
          <a:bodyPr wrap="square">
            <a:spAutoFit/>
          </a:bodyPr>
          <a:lstStyle/>
          <a:p>
            <a:pPr algn="l">
              <a:spcAft>
                <a:spcPts val="400"/>
              </a:spcAft>
            </a:pPr>
            <a:r>
              <a:rPr sz="1000" b="0">
                <a:solidFill>
                  <a:srgbClr val="8494A7"/>
                </a:solidFill>
                <a:latin typeface="Poppins"/>
              </a:rPr>
              <a:t>Accuracy</a:t>
            </a:r>
          </a:p>
        </p:txBody>
      </p:sp>
      <p:sp>
        <p:nvSpPr>
          <p:cNvPr id="6" name="TextBox 5"/>
          <p:cNvSpPr txBox="1"/>
          <p:nvPr/>
        </p:nvSpPr>
        <p:spPr>
          <a:xfrm>
            <a:off x="777240" y="1792224"/>
            <a:ext cx="1481328" cy="457200"/>
          </a:xfrm>
          <a:prstGeom prst="rect">
            <a:avLst/>
          </a:prstGeom>
          <a:noFill/>
        </p:spPr>
        <p:txBody>
          <a:bodyPr wrap="square">
            <a:spAutoFit/>
          </a:bodyPr>
          <a:lstStyle/>
          <a:p>
            <a:pPr algn="l">
              <a:spcAft>
                <a:spcPts val="400"/>
              </a:spcAft>
            </a:pPr>
            <a:r>
              <a:rPr sz="2000" b="1">
                <a:solidFill>
                  <a:srgbClr val="16202E"/>
                </a:solidFill>
                <a:latin typeface="Poppins"/>
              </a:rPr>
              <a:t>85.9%</a:t>
            </a:r>
          </a:p>
        </p:txBody>
      </p:sp>
      <p:sp>
        <p:nvSpPr>
          <p:cNvPr id="7" name="Rectangle 6"/>
          <p:cNvSpPr/>
          <p:nvPr/>
        </p:nvSpPr>
        <p:spPr>
          <a:xfrm>
            <a:off x="2487168" y="1463040"/>
            <a:ext cx="1755648" cy="960120"/>
          </a:xfrm>
          <a:prstGeom prst="rect">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24328" y="1536192"/>
            <a:ext cx="1481328" cy="274320"/>
          </a:xfrm>
          <a:prstGeom prst="rect">
            <a:avLst/>
          </a:prstGeom>
          <a:noFill/>
        </p:spPr>
        <p:txBody>
          <a:bodyPr wrap="square">
            <a:spAutoFit/>
          </a:bodyPr>
          <a:lstStyle/>
          <a:p>
            <a:pPr algn="l">
              <a:spcAft>
                <a:spcPts val="400"/>
              </a:spcAft>
            </a:pPr>
            <a:r>
              <a:rPr sz="1000" b="0">
                <a:solidFill>
                  <a:srgbClr val="8494A7"/>
                </a:solidFill>
                <a:latin typeface="Poppins"/>
              </a:rPr>
              <a:t>Precision</a:t>
            </a:r>
          </a:p>
        </p:txBody>
      </p:sp>
      <p:sp>
        <p:nvSpPr>
          <p:cNvPr id="9" name="TextBox 8"/>
          <p:cNvSpPr txBox="1"/>
          <p:nvPr/>
        </p:nvSpPr>
        <p:spPr>
          <a:xfrm>
            <a:off x="2624328" y="1792224"/>
            <a:ext cx="1481328" cy="457200"/>
          </a:xfrm>
          <a:prstGeom prst="rect">
            <a:avLst/>
          </a:prstGeom>
          <a:noFill/>
        </p:spPr>
        <p:txBody>
          <a:bodyPr wrap="square">
            <a:spAutoFit/>
          </a:bodyPr>
          <a:lstStyle/>
          <a:p>
            <a:pPr algn="l">
              <a:spcAft>
                <a:spcPts val="400"/>
              </a:spcAft>
            </a:pPr>
            <a:r>
              <a:rPr sz="2000" b="1">
                <a:solidFill>
                  <a:srgbClr val="16202E"/>
                </a:solidFill>
                <a:latin typeface="Poppins"/>
              </a:rPr>
              <a:t>72.3%</a:t>
            </a:r>
          </a:p>
        </p:txBody>
      </p:sp>
      <p:sp>
        <p:nvSpPr>
          <p:cNvPr id="10" name="Rectangle 9"/>
          <p:cNvSpPr/>
          <p:nvPr/>
        </p:nvSpPr>
        <p:spPr>
          <a:xfrm>
            <a:off x="4334256" y="1463040"/>
            <a:ext cx="1755648" cy="960120"/>
          </a:xfrm>
          <a:prstGeom prst="rect">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1416" y="1536192"/>
            <a:ext cx="1481328" cy="274320"/>
          </a:xfrm>
          <a:prstGeom prst="rect">
            <a:avLst/>
          </a:prstGeom>
          <a:noFill/>
        </p:spPr>
        <p:txBody>
          <a:bodyPr wrap="square">
            <a:spAutoFit/>
          </a:bodyPr>
          <a:lstStyle/>
          <a:p>
            <a:pPr algn="l">
              <a:spcAft>
                <a:spcPts val="400"/>
              </a:spcAft>
            </a:pPr>
            <a:r>
              <a:rPr sz="1000" b="0">
                <a:solidFill>
                  <a:srgbClr val="8494A7"/>
                </a:solidFill>
                <a:latin typeface="Poppins"/>
              </a:rPr>
              <a:t>Recall</a:t>
            </a:r>
          </a:p>
        </p:txBody>
      </p:sp>
      <p:sp>
        <p:nvSpPr>
          <p:cNvPr id="12" name="TextBox 11"/>
          <p:cNvSpPr txBox="1"/>
          <p:nvPr/>
        </p:nvSpPr>
        <p:spPr>
          <a:xfrm>
            <a:off x="4471416" y="1792224"/>
            <a:ext cx="1481328" cy="457200"/>
          </a:xfrm>
          <a:prstGeom prst="rect">
            <a:avLst/>
          </a:prstGeom>
          <a:noFill/>
        </p:spPr>
        <p:txBody>
          <a:bodyPr wrap="square">
            <a:spAutoFit/>
          </a:bodyPr>
          <a:lstStyle/>
          <a:p>
            <a:pPr algn="l">
              <a:spcAft>
                <a:spcPts val="400"/>
              </a:spcAft>
            </a:pPr>
            <a:r>
              <a:rPr sz="2000" b="1">
                <a:solidFill>
                  <a:srgbClr val="16202E"/>
                </a:solidFill>
                <a:latin typeface="Poppins"/>
              </a:rPr>
              <a:t>67.3%</a:t>
            </a:r>
          </a:p>
        </p:txBody>
      </p:sp>
      <p:sp>
        <p:nvSpPr>
          <p:cNvPr id="13" name="Rectangle 12"/>
          <p:cNvSpPr/>
          <p:nvPr/>
        </p:nvSpPr>
        <p:spPr>
          <a:xfrm>
            <a:off x="6181344" y="1463040"/>
            <a:ext cx="1755648" cy="960120"/>
          </a:xfrm>
          <a:prstGeom prst="rect">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1536192"/>
            <a:ext cx="1481328" cy="274320"/>
          </a:xfrm>
          <a:prstGeom prst="rect">
            <a:avLst/>
          </a:prstGeom>
          <a:noFill/>
        </p:spPr>
        <p:txBody>
          <a:bodyPr wrap="square">
            <a:spAutoFit/>
          </a:bodyPr>
          <a:lstStyle/>
          <a:p>
            <a:pPr algn="l">
              <a:spcAft>
                <a:spcPts val="400"/>
              </a:spcAft>
            </a:pPr>
            <a:r>
              <a:rPr sz="1000" b="0">
                <a:solidFill>
                  <a:srgbClr val="8494A7"/>
                </a:solidFill>
                <a:latin typeface="Poppins"/>
              </a:rPr>
              <a:t>F1 score</a:t>
            </a:r>
          </a:p>
        </p:txBody>
      </p:sp>
      <p:sp>
        <p:nvSpPr>
          <p:cNvPr id="15" name="TextBox 14"/>
          <p:cNvSpPr txBox="1"/>
          <p:nvPr/>
        </p:nvSpPr>
        <p:spPr>
          <a:xfrm>
            <a:off x="6318504" y="1792224"/>
            <a:ext cx="1481328" cy="457200"/>
          </a:xfrm>
          <a:prstGeom prst="rect">
            <a:avLst/>
          </a:prstGeom>
          <a:noFill/>
        </p:spPr>
        <p:txBody>
          <a:bodyPr wrap="square">
            <a:spAutoFit/>
          </a:bodyPr>
          <a:lstStyle/>
          <a:p>
            <a:pPr algn="l">
              <a:spcAft>
                <a:spcPts val="400"/>
              </a:spcAft>
            </a:pPr>
            <a:r>
              <a:rPr sz="2000" b="1">
                <a:solidFill>
                  <a:srgbClr val="16202E"/>
                </a:solidFill>
                <a:latin typeface="Poppins"/>
              </a:rPr>
              <a:t>69.7%</a:t>
            </a:r>
          </a:p>
        </p:txBody>
      </p:sp>
      <p:sp>
        <p:nvSpPr>
          <p:cNvPr id="16" name="Rectangle 15"/>
          <p:cNvSpPr/>
          <p:nvPr/>
        </p:nvSpPr>
        <p:spPr>
          <a:xfrm>
            <a:off x="8028432" y="1463040"/>
            <a:ext cx="1755648" cy="960120"/>
          </a:xfrm>
          <a:prstGeom prst="rect">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1536192"/>
            <a:ext cx="1481328" cy="274320"/>
          </a:xfrm>
          <a:prstGeom prst="rect">
            <a:avLst/>
          </a:prstGeom>
          <a:noFill/>
        </p:spPr>
        <p:txBody>
          <a:bodyPr wrap="square">
            <a:spAutoFit/>
          </a:bodyPr>
          <a:lstStyle/>
          <a:p>
            <a:pPr algn="l">
              <a:spcAft>
                <a:spcPts val="400"/>
              </a:spcAft>
            </a:pPr>
            <a:r>
              <a:rPr sz="1000" b="0">
                <a:solidFill>
                  <a:srgbClr val="8494A7"/>
                </a:solidFill>
                <a:latin typeface="Poppins"/>
              </a:rPr>
              <a:t>ROC-AUC</a:t>
            </a:r>
          </a:p>
        </p:txBody>
      </p:sp>
      <p:sp>
        <p:nvSpPr>
          <p:cNvPr id="18" name="TextBox 17"/>
          <p:cNvSpPr txBox="1"/>
          <p:nvPr/>
        </p:nvSpPr>
        <p:spPr>
          <a:xfrm>
            <a:off x="8165592" y="1792224"/>
            <a:ext cx="1481328" cy="457200"/>
          </a:xfrm>
          <a:prstGeom prst="rect">
            <a:avLst/>
          </a:prstGeom>
          <a:noFill/>
        </p:spPr>
        <p:txBody>
          <a:bodyPr wrap="square">
            <a:spAutoFit/>
          </a:bodyPr>
          <a:lstStyle/>
          <a:p>
            <a:pPr algn="l">
              <a:spcAft>
                <a:spcPts val="400"/>
              </a:spcAft>
            </a:pPr>
            <a:r>
              <a:rPr sz="2000" b="1">
                <a:solidFill>
                  <a:srgbClr val="16202E"/>
                </a:solidFill>
                <a:latin typeface="Poppins"/>
              </a:rPr>
              <a:t>0.910</a:t>
            </a:r>
          </a:p>
        </p:txBody>
      </p:sp>
      <p:sp>
        <p:nvSpPr>
          <p:cNvPr id="19" name="Rectangle 18"/>
          <p:cNvSpPr/>
          <p:nvPr/>
        </p:nvSpPr>
        <p:spPr>
          <a:xfrm>
            <a:off x="9875520" y="1463040"/>
            <a:ext cx="1755648" cy="960120"/>
          </a:xfrm>
          <a:prstGeom prst="rect">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12680" y="1536192"/>
            <a:ext cx="1481328" cy="274320"/>
          </a:xfrm>
          <a:prstGeom prst="rect">
            <a:avLst/>
          </a:prstGeom>
          <a:noFill/>
        </p:spPr>
        <p:txBody>
          <a:bodyPr wrap="square">
            <a:spAutoFit/>
          </a:bodyPr>
          <a:lstStyle/>
          <a:p>
            <a:pPr algn="l">
              <a:spcAft>
                <a:spcPts val="400"/>
              </a:spcAft>
            </a:pPr>
            <a:r>
              <a:rPr sz="1000" b="0">
                <a:solidFill>
                  <a:srgbClr val="8494A7"/>
                </a:solidFill>
                <a:latin typeface="Poppins"/>
              </a:rPr>
              <a:t>Brier</a:t>
            </a:r>
          </a:p>
        </p:txBody>
      </p:sp>
      <p:sp>
        <p:nvSpPr>
          <p:cNvPr id="21" name="TextBox 20"/>
          <p:cNvSpPr txBox="1"/>
          <p:nvPr/>
        </p:nvSpPr>
        <p:spPr>
          <a:xfrm>
            <a:off x="10012680" y="1792224"/>
            <a:ext cx="1481328" cy="457200"/>
          </a:xfrm>
          <a:prstGeom prst="rect">
            <a:avLst/>
          </a:prstGeom>
          <a:noFill/>
        </p:spPr>
        <p:txBody>
          <a:bodyPr wrap="square">
            <a:spAutoFit/>
          </a:bodyPr>
          <a:lstStyle/>
          <a:p>
            <a:pPr algn="l">
              <a:spcAft>
                <a:spcPts val="400"/>
              </a:spcAft>
            </a:pPr>
            <a:r>
              <a:rPr sz="2000" b="1">
                <a:solidFill>
                  <a:srgbClr val="16202E"/>
                </a:solidFill>
                <a:latin typeface="Poppins"/>
              </a:rPr>
              <a:t>0.099</a:t>
            </a:r>
          </a:p>
        </p:txBody>
      </p:sp>
      <p:sp>
        <p:nvSpPr>
          <p:cNvPr id="22" name="TextBox 21"/>
          <p:cNvSpPr txBox="1"/>
          <p:nvPr/>
        </p:nvSpPr>
        <p:spPr>
          <a:xfrm>
            <a:off x="640080" y="2834640"/>
            <a:ext cx="5486400" cy="274320"/>
          </a:xfrm>
          <a:prstGeom prst="rect">
            <a:avLst/>
          </a:prstGeom>
          <a:noFill/>
        </p:spPr>
        <p:txBody>
          <a:bodyPr wrap="square">
            <a:spAutoFit/>
          </a:bodyPr>
          <a:lstStyle/>
          <a:p>
            <a:pPr algn="l">
              <a:spcAft>
                <a:spcPts val="400"/>
              </a:spcAft>
            </a:pPr>
            <a:r>
              <a:rPr sz="1050" b="1">
                <a:solidFill>
                  <a:srgbClr val="2A78D6"/>
                </a:solidFill>
                <a:latin typeface="Poppins"/>
              </a:rPr>
              <a:t>MODEL COMPARISON (VALIDATION ONLY)</a:t>
            </a:r>
          </a:p>
        </p:txBody>
      </p:sp>
      <p:sp>
        <p:nvSpPr>
          <p:cNvPr id="23" name="TextBox 22"/>
          <p:cNvSpPr txBox="1"/>
          <p:nvPr/>
        </p:nvSpPr>
        <p:spPr>
          <a:xfrm>
            <a:off x="640080" y="3200400"/>
            <a:ext cx="3017520" cy="274320"/>
          </a:xfrm>
          <a:prstGeom prst="rect">
            <a:avLst/>
          </a:prstGeom>
          <a:noFill/>
        </p:spPr>
        <p:txBody>
          <a:bodyPr wrap="square">
            <a:spAutoFit/>
          </a:bodyPr>
          <a:lstStyle/>
          <a:p>
            <a:pPr algn="l">
              <a:spcAft>
                <a:spcPts val="400"/>
              </a:spcAft>
            </a:pPr>
            <a:r>
              <a:rPr sz="1250" b="0">
                <a:solidFill>
                  <a:srgbClr val="16202E"/>
                </a:solidFill>
                <a:latin typeface="Poppins"/>
              </a:rPr>
              <a:t>Random Forest</a:t>
            </a:r>
          </a:p>
        </p:txBody>
      </p:sp>
      <p:sp>
        <p:nvSpPr>
          <p:cNvPr id="24" name="TextBox 23"/>
          <p:cNvSpPr txBox="1"/>
          <p:nvPr/>
        </p:nvSpPr>
        <p:spPr>
          <a:xfrm>
            <a:off x="3657600" y="3200400"/>
            <a:ext cx="1371600" cy="274320"/>
          </a:xfrm>
          <a:prstGeom prst="rect">
            <a:avLst/>
          </a:prstGeom>
          <a:noFill/>
        </p:spPr>
        <p:txBody>
          <a:bodyPr wrap="square">
            <a:spAutoFit/>
          </a:bodyPr>
          <a:lstStyle/>
          <a:p>
            <a:pPr algn="l">
              <a:spcAft>
                <a:spcPts val="400"/>
              </a:spcAft>
            </a:pPr>
            <a:r>
              <a:rPr sz="1250" b="0">
                <a:solidFill>
                  <a:srgbClr val="4C5A6B"/>
                </a:solidFill>
                <a:latin typeface="Poppins"/>
              </a:rPr>
              <a:t>0.9112</a:t>
            </a:r>
          </a:p>
        </p:txBody>
      </p:sp>
      <p:sp>
        <p:nvSpPr>
          <p:cNvPr id="25" name="TextBox 24"/>
          <p:cNvSpPr txBox="1"/>
          <p:nvPr/>
        </p:nvSpPr>
        <p:spPr>
          <a:xfrm>
            <a:off x="5029200" y="3200400"/>
            <a:ext cx="1371600" cy="274320"/>
          </a:xfrm>
          <a:prstGeom prst="rect">
            <a:avLst/>
          </a:prstGeom>
          <a:noFill/>
        </p:spPr>
        <p:txBody>
          <a:bodyPr wrap="square">
            <a:spAutoFit/>
          </a:bodyPr>
          <a:lstStyle/>
          <a:p>
            <a:pPr algn="l">
              <a:spcAft>
                <a:spcPts val="400"/>
              </a:spcAft>
            </a:pPr>
            <a:r>
              <a:rPr sz="1250" b="0">
                <a:solidFill>
                  <a:srgbClr val="4C5A6B"/>
                </a:solidFill>
                <a:latin typeface="Poppins"/>
              </a:rPr>
              <a:t>0.1068</a:t>
            </a:r>
          </a:p>
        </p:txBody>
      </p:sp>
      <p:sp>
        <p:nvSpPr>
          <p:cNvPr id="26" name="TextBox 25"/>
          <p:cNvSpPr txBox="1"/>
          <p:nvPr/>
        </p:nvSpPr>
        <p:spPr>
          <a:xfrm>
            <a:off x="640080" y="3584448"/>
            <a:ext cx="3017520" cy="274320"/>
          </a:xfrm>
          <a:prstGeom prst="rect">
            <a:avLst/>
          </a:prstGeom>
          <a:noFill/>
        </p:spPr>
        <p:txBody>
          <a:bodyPr wrap="square">
            <a:spAutoFit/>
          </a:bodyPr>
          <a:lstStyle/>
          <a:p>
            <a:pPr algn="l">
              <a:spcAft>
                <a:spcPts val="400"/>
              </a:spcAft>
            </a:pPr>
            <a:r>
              <a:rPr sz="1250" b="0">
                <a:solidFill>
                  <a:srgbClr val="16202E"/>
                </a:solidFill>
                <a:latin typeface="Poppins"/>
              </a:rPr>
              <a:t>Logistic Regression</a:t>
            </a:r>
          </a:p>
        </p:txBody>
      </p:sp>
      <p:sp>
        <p:nvSpPr>
          <p:cNvPr id="27" name="TextBox 26"/>
          <p:cNvSpPr txBox="1"/>
          <p:nvPr/>
        </p:nvSpPr>
        <p:spPr>
          <a:xfrm>
            <a:off x="3657600" y="3584448"/>
            <a:ext cx="1371600" cy="274320"/>
          </a:xfrm>
          <a:prstGeom prst="rect">
            <a:avLst/>
          </a:prstGeom>
          <a:noFill/>
        </p:spPr>
        <p:txBody>
          <a:bodyPr wrap="square">
            <a:spAutoFit/>
          </a:bodyPr>
          <a:lstStyle/>
          <a:p>
            <a:pPr algn="l">
              <a:spcAft>
                <a:spcPts val="400"/>
              </a:spcAft>
            </a:pPr>
            <a:r>
              <a:rPr sz="1250" b="0">
                <a:solidFill>
                  <a:srgbClr val="4C5A6B"/>
                </a:solidFill>
                <a:latin typeface="Poppins"/>
              </a:rPr>
              <a:t>0.8924</a:t>
            </a:r>
          </a:p>
        </p:txBody>
      </p:sp>
      <p:sp>
        <p:nvSpPr>
          <p:cNvPr id="28" name="TextBox 27"/>
          <p:cNvSpPr txBox="1"/>
          <p:nvPr/>
        </p:nvSpPr>
        <p:spPr>
          <a:xfrm>
            <a:off x="5029200" y="3584448"/>
            <a:ext cx="1371600" cy="274320"/>
          </a:xfrm>
          <a:prstGeom prst="rect">
            <a:avLst/>
          </a:prstGeom>
          <a:noFill/>
        </p:spPr>
        <p:txBody>
          <a:bodyPr wrap="square">
            <a:spAutoFit/>
          </a:bodyPr>
          <a:lstStyle/>
          <a:p>
            <a:pPr algn="l">
              <a:spcAft>
                <a:spcPts val="400"/>
              </a:spcAft>
            </a:pPr>
            <a:r>
              <a:rPr sz="1250" b="0">
                <a:solidFill>
                  <a:srgbClr val="4C5A6B"/>
                </a:solidFill>
                <a:latin typeface="Poppins"/>
              </a:rPr>
              <a:t>0.1192</a:t>
            </a:r>
          </a:p>
        </p:txBody>
      </p:sp>
      <p:sp>
        <p:nvSpPr>
          <p:cNvPr id="29" name="TextBox 28"/>
          <p:cNvSpPr txBox="1"/>
          <p:nvPr/>
        </p:nvSpPr>
        <p:spPr>
          <a:xfrm>
            <a:off x="640080" y="3968496"/>
            <a:ext cx="3017520" cy="274320"/>
          </a:xfrm>
          <a:prstGeom prst="rect">
            <a:avLst/>
          </a:prstGeom>
          <a:noFill/>
        </p:spPr>
        <p:txBody>
          <a:bodyPr wrap="square">
            <a:spAutoFit/>
          </a:bodyPr>
          <a:lstStyle/>
          <a:p>
            <a:pPr algn="l">
              <a:spcAft>
                <a:spcPts val="400"/>
              </a:spcAft>
            </a:pPr>
            <a:r>
              <a:rPr sz="1250" b="1">
                <a:solidFill>
                  <a:srgbClr val="16202E"/>
                </a:solidFill>
                <a:latin typeface="Poppins"/>
              </a:rPr>
              <a:t>Gradient Boosting</a:t>
            </a:r>
          </a:p>
        </p:txBody>
      </p:sp>
      <p:sp>
        <p:nvSpPr>
          <p:cNvPr id="30" name="TextBox 29"/>
          <p:cNvSpPr txBox="1"/>
          <p:nvPr/>
        </p:nvSpPr>
        <p:spPr>
          <a:xfrm>
            <a:off x="3657600" y="3968496"/>
            <a:ext cx="1371600" cy="274320"/>
          </a:xfrm>
          <a:prstGeom prst="rect">
            <a:avLst/>
          </a:prstGeom>
          <a:noFill/>
        </p:spPr>
        <p:txBody>
          <a:bodyPr wrap="square">
            <a:spAutoFit/>
          </a:bodyPr>
          <a:lstStyle/>
          <a:p>
            <a:pPr algn="l">
              <a:spcAft>
                <a:spcPts val="400"/>
              </a:spcAft>
            </a:pPr>
            <a:r>
              <a:rPr sz="1250" b="0">
                <a:solidFill>
                  <a:srgbClr val="4C5A6B"/>
                </a:solidFill>
                <a:latin typeface="Poppins"/>
              </a:rPr>
              <a:t>0.9113</a:t>
            </a:r>
          </a:p>
        </p:txBody>
      </p:sp>
      <p:sp>
        <p:nvSpPr>
          <p:cNvPr id="31" name="TextBox 30"/>
          <p:cNvSpPr txBox="1"/>
          <p:nvPr/>
        </p:nvSpPr>
        <p:spPr>
          <a:xfrm>
            <a:off x="5029200" y="3968496"/>
            <a:ext cx="1371600" cy="274320"/>
          </a:xfrm>
          <a:prstGeom prst="rect">
            <a:avLst/>
          </a:prstGeom>
          <a:noFill/>
        </p:spPr>
        <p:txBody>
          <a:bodyPr wrap="square">
            <a:spAutoFit/>
          </a:bodyPr>
          <a:lstStyle/>
          <a:p>
            <a:pPr algn="l">
              <a:spcAft>
                <a:spcPts val="400"/>
              </a:spcAft>
            </a:pPr>
            <a:r>
              <a:rPr sz="1250" b="0">
                <a:solidFill>
                  <a:srgbClr val="4C5A6B"/>
                </a:solidFill>
                <a:latin typeface="Poppins"/>
              </a:rPr>
              <a:t>0.1029</a:t>
            </a:r>
          </a:p>
        </p:txBody>
      </p:sp>
      <p:sp>
        <p:nvSpPr>
          <p:cNvPr id="32" name="TextBox 31"/>
          <p:cNvSpPr txBox="1"/>
          <p:nvPr/>
        </p:nvSpPr>
        <p:spPr>
          <a:xfrm>
            <a:off x="6309360" y="3968496"/>
            <a:ext cx="1097280" cy="274320"/>
          </a:xfrm>
          <a:prstGeom prst="rect">
            <a:avLst/>
          </a:prstGeom>
          <a:noFill/>
        </p:spPr>
        <p:txBody>
          <a:bodyPr wrap="square">
            <a:spAutoFit/>
          </a:bodyPr>
          <a:lstStyle/>
          <a:p>
            <a:pPr algn="l">
              <a:spcAft>
                <a:spcPts val="400"/>
              </a:spcAft>
            </a:pPr>
            <a:r>
              <a:rPr sz="1100" b="1">
                <a:solidFill>
                  <a:srgbClr val="18A05A"/>
                </a:solidFill>
                <a:latin typeface="Poppins"/>
              </a:rPr>
              <a:t>selected</a:t>
            </a:r>
          </a:p>
        </p:txBody>
      </p:sp>
      <p:sp>
        <p:nvSpPr>
          <p:cNvPr id="33" name="TextBox 32"/>
          <p:cNvSpPr txBox="1"/>
          <p:nvPr/>
        </p:nvSpPr>
        <p:spPr>
          <a:xfrm>
            <a:off x="640080" y="4443984"/>
            <a:ext cx="5943600" cy="731520"/>
          </a:xfrm>
          <a:prstGeom prst="rect">
            <a:avLst/>
          </a:prstGeom>
          <a:noFill/>
        </p:spPr>
        <p:txBody>
          <a:bodyPr wrap="square">
            <a:spAutoFit/>
          </a:bodyPr>
          <a:lstStyle/>
          <a:p>
            <a:pPr algn="l">
              <a:spcAft>
                <a:spcPts val="400"/>
              </a:spcAft>
            </a:pPr>
            <a:r>
              <a:rPr sz="1100" b="0">
                <a:solidFill>
                  <a:srgbClr val="8494A7"/>
                </a:solidFill>
                <a:latin typeface="Poppins"/>
              </a:rPr>
              <a:t>Selected on validation ROC-AUC with probability calibration (isotonic) chosen by Brier score on a held-out calibration half.</a:t>
            </a:r>
          </a:p>
        </p:txBody>
      </p:sp>
      <p:sp>
        <p:nvSpPr>
          <p:cNvPr id="34" name="Rectangle 33"/>
          <p:cNvSpPr/>
          <p:nvPr/>
        </p:nvSpPr>
        <p:spPr>
          <a:xfrm>
            <a:off x="7680960" y="2834640"/>
            <a:ext cx="3840480" cy="301752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79" y="3063240"/>
            <a:ext cx="3383280" cy="274320"/>
          </a:xfrm>
          <a:prstGeom prst="rect">
            <a:avLst/>
          </a:prstGeom>
          <a:noFill/>
        </p:spPr>
        <p:txBody>
          <a:bodyPr wrap="square">
            <a:spAutoFit/>
          </a:bodyPr>
          <a:lstStyle/>
          <a:p>
            <a:pPr algn="l">
              <a:spcAft>
                <a:spcPts val="400"/>
              </a:spcAft>
            </a:pPr>
            <a:r>
              <a:rPr sz="1000" b="1">
                <a:solidFill>
                  <a:srgbClr val="8FA1B8"/>
                </a:solidFill>
                <a:latin typeface="Poppins"/>
              </a:rPr>
              <a:t>CONFORMAL UNCERTAINTY (TEST)</a:t>
            </a:r>
          </a:p>
        </p:txBody>
      </p:sp>
      <p:sp>
        <p:nvSpPr>
          <p:cNvPr id="36" name="TextBox 35"/>
          <p:cNvSpPr txBox="1"/>
          <p:nvPr/>
        </p:nvSpPr>
        <p:spPr>
          <a:xfrm>
            <a:off x="7955279" y="3474720"/>
            <a:ext cx="2194560" cy="320040"/>
          </a:xfrm>
          <a:prstGeom prst="rect">
            <a:avLst/>
          </a:prstGeom>
          <a:noFill/>
        </p:spPr>
        <p:txBody>
          <a:bodyPr wrap="square">
            <a:spAutoFit/>
          </a:bodyPr>
          <a:lstStyle/>
          <a:p>
            <a:pPr algn="l">
              <a:spcAft>
                <a:spcPts val="400"/>
              </a:spcAft>
            </a:pPr>
            <a:r>
              <a:rPr sz="1150" b="0">
                <a:solidFill>
                  <a:srgbClr val="C3D0E0"/>
                </a:solidFill>
                <a:latin typeface="Poppins"/>
              </a:rPr>
              <a:t>Target coverage</a:t>
            </a:r>
          </a:p>
        </p:txBody>
      </p:sp>
      <p:sp>
        <p:nvSpPr>
          <p:cNvPr id="37" name="TextBox 36"/>
          <p:cNvSpPr txBox="1"/>
          <p:nvPr/>
        </p:nvSpPr>
        <p:spPr>
          <a:xfrm>
            <a:off x="10149840" y="3474720"/>
            <a:ext cx="1188720" cy="320040"/>
          </a:xfrm>
          <a:prstGeom prst="rect">
            <a:avLst/>
          </a:prstGeom>
          <a:noFill/>
        </p:spPr>
        <p:txBody>
          <a:bodyPr wrap="square">
            <a:spAutoFit/>
          </a:bodyPr>
          <a:lstStyle/>
          <a:p>
            <a:pPr algn="l">
              <a:spcAft>
                <a:spcPts val="400"/>
              </a:spcAft>
            </a:pPr>
            <a:r>
              <a:rPr sz="1300" b="1">
                <a:solidFill>
                  <a:srgbClr val="FFFFFF"/>
                </a:solidFill>
                <a:latin typeface="Poppins"/>
              </a:rPr>
              <a:t>90%</a:t>
            </a:r>
          </a:p>
        </p:txBody>
      </p:sp>
      <p:sp>
        <p:nvSpPr>
          <p:cNvPr id="38" name="TextBox 37"/>
          <p:cNvSpPr txBox="1"/>
          <p:nvPr/>
        </p:nvSpPr>
        <p:spPr>
          <a:xfrm>
            <a:off x="7955279" y="3977640"/>
            <a:ext cx="2194560" cy="320040"/>
          </a:xfrm>
          <a:prstGeom prst="rect">
            <a:avLst/>
          </a:prstGeom>
          <a:noFill/>
        </p:spPr>
        <p:txBody>
          <a:bodyPr wrap="square">
            <a:spAutoFit/>
          </a:bodyPr>
          <a:lstStyle/>
          <a:p>
            <a:pPr algn="l">
              <a:spcAft>
                <a:spcPts val="400"/>
              </a:spcAft>
            </a:pPr>
            <a:r>
              <a:rPr sz="1150" b="0">
                <a:solidFill>
                  <a:srgbClr val="C3D0E0"/>
                </a:solidFill>
                <a:latin typeface="Poppins"/>
              </a:rPr>
              <a:t>Empirical coverage</a:t>
            </a:r>
          </a:p>
        </p:txBody>
      </p:sp>
      <p:sp>
        <p:nvSpPr>
          <p:cNvPr id="39" name="TextBox 38"/>
          <p:cNvSpPr txBox="1"/>
          <p:nvPr/>
        </p:nvSpPr>
        <p:spPr>
          <a:xfrm>
            <a:off x="10149840" y="3977640"/>
            <a:ext cx="1188720" cy="320040"/>
          </a:xfrm>
          <a:prstGeom prst="rect">
            <a:avLst/>
          </a:prstGeom>
          <a:noFill/>
        </p:spPr>
        <p:txBody>
          <a:bodyPr wrap="square">
            <a:spAutoFit/>
          </a:bodyPr>
          <a:lstStyle/>
          <a:p>
            <a:pPr algn="l">
              <a:spcAft>
                <a:spcPts val="400"/>
              </a:spcAft>
            </a:pPr>
            <a:r>
              <a:rPr sz="1300" b="1">
                <a:solidFill>
                  <a:srgbClr val="FFFFFF"/>
                </a:solidFill>
                <a:latin typeface="Poppins"/>
              </a:rPr>
              <a:t>90.8%</a:t>
            </a:r>
          </a:p>
        </p:txBody>
      </p:sp>
      <p:sp>
        <p:nvSpPr>
          <p:cNvPr id="40" name="TextBox 39"/>
          <p:cNvSpPr txBox="1"/>
          <p:nvPr/>
        </p:nvSpPr>
        <p:spPr>
          <a:xfrm>
            <a:off x="7955279" y="4480560"/>
            <a:ext cx="2194560" cy="320040"/>
          </a:xfrm>
          <a:prstGeom prst="rect">
            <a:avLst/>
          </a:prstGeom>
          <a:noFill/>
        </p:spPr>
        <p:txBody>
          <a:bodyPr wrap="square">
            <a:spAutoFit/>
          </a:bodyPr>
          <a:lstStyle/>
          <a:p>
            <a:pPr algn="l">
              <a:spcAft>
                <a:spcPts val="400"/>
              </a:spcAft>
            </a:pPr>
            <a:r>
              <a:rPr sz="1150" b="0">
                <a:solidFill>
                  <a:srgbClr val="C3D0E0"/>
                </a:solidFill>
                <a:latin typeface="Poppins"/>
              </a:rPr>
              <a:t>Avg. set size</a:t>
            </a:r>
          </a:p>
        </p:txBody>
      </p:sp>
      <p:sp>
        <p:nvSpPr>
          <p:cNvPr id="41" name="TextBox 40"/>
          <p:cNvSpPr txBox="1"/>
          <p:nvPr/>
        </p:nvSpPr>
        <p:spPr>
          <a:xfrm>
            <a:off x="10149840" y="4480560"/>
            <a:ext cx="1188720" cy="320040"/>
          </a:xfrm>
          <a:prstGeom prst="rect">
            <a:avLst/>
          </a:prstGeom>
          <a:noFill/>
        </p:spPr>
        <p:txBody>
          <a:bodyPr wrap="square">
            <a:spAutoFit/>
          </a:bodyPr>
          <a:lstStyle/>
          <a:p>
            <a:pPr algn="l">
              <a:spcAft>
                <a:spcPts val="400"/>
              </a:spcAft>
            </a:pPr>
            <a:r>
              <a:rPr sz="1300" b="1">
                <a:solidFill>
                  <a:srgbClr val="FFFFFF"/>
                </a:solidFill>
                <a:latin typeface="Poppins"/>
              </a:rPr>
              <a:t>1.11</a:t>
            </a:r>
          </a:p>
        </p:txBody>
      </p:sp>
      <p:sp>
        <p:nvSpPr>
          <p:cNvPr id="42" name="TextBox 41"/>
          <p:cNvSpPr txBox="1"/>
          <p:nvPr/>
        </p:nvSpPr>
        <p:spPr>
          <a:xfrm>
            <a:off x="7955279" y="4983480"/>
            <a:ext cx="2194560" cy="320040"/>
          </a:xfrm>
          <a:prstGeom prst="rect">
            <a:avLst/>
          </a:prstGeom>
          <a:noFill/>
        </p:spPr>
        <p:txBody>
          <a:bodyPr wrap="square">
            <a:spAutoFit/>
          </a:bodyPr>
          <a:lstStyle/>
          <a:p>
            <a:pPr algn="l">
              <a:spcAft>
                <a:spcPts val="400"/>
              </a:spcAft>
            </a:pPr>
            <a:r>
              <a:rPr sz="1150" b="0">
                <a:solidFill>
                  <a:srgbClr val="C3D0E0"/>
                </a:solidFill>
                <a:latin typeface="Poppins"/>
              </a:rPr>
              <a:t>Ambiguous days</a:t>
            </a:r>
          </a:p>
        </p:txBody>
      </p:sp>
      <p:sp>
        <p:nvSpPr>
          <p:cNvPr id="43" name="TextBox 42"/>
          <p:cNvSpPr txBox="1"/>
          <p:nvPr/>
        </p:nvSpPr>
        <p:spPr>
          <a:xfrm>
            <a:off x="10149840" y="4983480"/>
            <a:ext cx="1188720" cy="320040"/>
          </a:xfrm>
          <a:prstGeom prst="rect">
            <a:avLst/>
          </a:prstGeom>
          <a:noFill/>
        </p:spPr>
        <p:txBody>
          <a:bodyPr wrap="square">
            <a:spAutoFit/>
          </a:bodyPr>
          <a:lstStyle/>
          <a:p>
            <a:pPr algn="l">
              <a:spcAft>
                <a:spcPts val="400"/>
              </a:spcAft>
            </a:pPr>
            <a:r>
              <a:rPr sz="1300" b="1">
                <a:solidFill>
                  <a:srgbClr val="FFFFFF"/>
                </a:solidFill>
                <a:latin typeface="Poppins"/>
              </a:rPr>
              <a:t>10.9%</a:t>
            </a:r>
          </a:p>
        </p:txBody>
      </p:sp>
      <p:sp>
        <p:nvSpPr>
          <p:cNvPr id="44" name="TextBox 43"/>
          <p:cNvSpPr txBox="1"/>
          <p:nvPr/>
        </p:nvSpPr>
        <p:spPr>
          <a:xfrm>
            <a:off x="7955279" y="5532120"/>
            <a:ext cx="3383280" cy="731520"/>
          </a:xfrm>
          <a:prstGeom prst="rect">
            <a:avLst/>
          </a:prstGeom>
          <a:noFill/>
        </p:spPr>
        <p:txBody>
          <a:bodyPr wrap="square">
            <a:spAutoFit/>
          </a:bodyPr>
          <a:lstStyle/>
          <a:p>
            <a:pPr algn="l">
              <a:spcAft>
                <a:spcPts val="400"/>
              </a:spcAft>
            </a:pPr>
            <a:r>
              <a:rPr sz="1050" b="0">
                <a:solidFill>
                  <a:srgbClr val="8FA1B8"/>
                </a:solidFill>
                <a:latin typeface="Poppins"/>
              </a:rPr>
              <a:t>Coverage lands on the 90% target — the uncertainty layer does what it promises.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pPr algn="l">
              <a:spcAft>
                <a:spcPts val="400"/>
              </a:spcAft>
            </a:pPr>
            <a:r>
              <a:rPr sz="1100" b="1">
                <a:solidFill>
                  <a:srgbClr val="8494A7"/>
                </a:solidFill>
                <a:latin typeface="Poppins"/>
              </a:rPr>
              <a:t>UNCERTAINTY QUANTIFICATION</a:t>
            </a:r>
          </a:p>
        </p:txBody>
      </p:sp>
      <p:sp>
        <p:nvSpPr>
          <p:cNvPr id="3" name="TextBox 2"/>
          <p:cNvSpPr txBox="1"/>
          <p:nvPr/>
        </p:nvSpPr>
        <p:spPr>
          <a:xfrm>
            <a:off x="640080" y="685800"/>
            <a:ext cx="10881360" cy="822960"/>
          </a:xfrm>
          <a:prstGeom prst="rect">
            <a:avLst/>
          </a:prstGeom>
          <a:noFill/>
        </p:spPr>
        <p:txBody>
          <a:bodyPr wrap="square">
            <a:spAutoFit/>
          </a:bodyPr>
          <a:lstStyle/>
          <a:p>
            <a:pPr algn="l">
              <a:spcAft>
                <a:spcPts val="400"/>
              </a:spcAft>
            </a:pPr>
            <a:r>
              <a:rPr sz="3000" b="1">
                <a:solidFill>
                  <a:srgbClr val="16202E"/>
                </a:solidFill>
                <a:latin typeface="Poppins"/>
              </a:rPr>
              <a:t>Split conformal prediction — not just a probability</a:t>
            </a:r>
          </a:p>
        </p:txBody>
      </p:sp>
      <p:sp>
        <p:nvSpPr>
          <p:cNvPr id="4" name="TextBox 3"/>
          <p:cNvSpPr txBox="1"/>
          <p:nvPr/>
        </p:nvSpPr>
        <p:spPr>
          <a:xfrm>
            <a:off x="640080" y="1554480"/>
            <a:ext cx="10972800" cy="4572000"/>
          </a:xfrm>
          <a:prstGeom prst="rect">
            <a:avLst/>
          </a:prstGeom>
          <a:noFill/>
        </p:spPr>
        <p:txBody>
          <a:bodyPr wrap="square">
            <a:spAutoFit/>
          </a:bodyPr>
          <a:lstStyle/>
          <a:p>
            <a:pPr algn="l">
              <a:spcAft>
                <a:spcPts val="1300"/>
              </a:spcAft>
            </a:pPr>
            <a:r>
              <a:rPr sz="1350" b="1">
                <a:solidFill>
                  <a:srgbClr val="16202E"/>
                </a:solidFill>
                <a:latin typeface="Poppins"/>
              </a:rPr>
              <a:t>Probability alone is not uncertainty.  </a:t>
            </a:r>
            <a:r>
              <a:rPr sz="1350" b="0">
                <a:solidFill>
                  <a:srgbClr val="4C5A6B"/>
                </a:solidFill>
                <a:latin typeface="Poppins"/>
              </a:rPr>
              <a:t>A calibrated 62% tells you the odds; it does not tell you whether the model can statistically rule out the other outcome.</a:t>
            </a:r>
          </a:p>
          <a:p>
            <a:pPr algn="l">
              <a:spcAft>
                <a:spcPts val="1300"/>
              </a:spcAft>
            </a:pPr>
            <a:r>
              <a:rPr sz="1350" b="1">
                <a:solidFill>
                  <a:srgbClr val="16202E"/>
                </a:solidFill>
                <a:latin typeface="Poppins"/>
              </a:rPr>
              <a:t>Nonconformity score:  </a:t>
            </a:r>
            <a:r>
              <a:rPr sz="1350" b="0">
                <a:solidFill>
                  <a:srgbClr val="4C5A6B"/>
                </a:solidFill>
                <a:latin typeface="Poppins"/>
              </a:rPr>
              <a:t>s = 1 − p(true class) on a held-out calibration set; q̂ = ⌈(n+1)(1−α)⌉/n quantile.</a:t>
            </a:r>
          </a:p>
          <a:p>
            <a:pPr algn="l">
              <a:spcAft>
                <a:spcPts val="1300"/>
              </a:spcAft>
            </a:pPr>
            <a:r>
              <a:rPr sz="1350" b="1">
                <a:solidFill>
                  <a:srgbClr val="16202E"/>
                </a:solidFill>
                <a:latin typeface="Poppins"/>
              </a:rPr>
              <a:t>Prediction set:  </a:t>
            </a:r>
            <a:r>
              <a:rPr sz="1350" b="0">
                <a:solidFill>
                  <a:srgbClr val="4C5A6B"/>
                </a:solidFill>
                <a:latin typeface="Poppins"/>
              </a:rPr>
              <a:t>every class whose score fits under q̂. {RAIN} = decisive · {RAIN, NO SIGNIFICANT RAIN} = genuinely ambiguous.</a:t>
            </a:r>
          </a:p>
          <a:p>
            <a:pPr algn="l">
              <a:spcAft>
                <a:spcPts val="1300"/>
              </a:spcAft>
            </a:pPr>
            <a:r>
              <a:rPr sz="1350" b="1">
                <a:solidFill>
                  <a:srgbClr val="16202E"/>
                </a:solidFill>
                <a:latin typeface="Poppins"/>
              </a:rPr>
              <a:t>The guarantee (marginal coverage):  </a:t>
            </a:r>
            <a:r>
              <a:rPr sz="1350" b="0">
                <a:solidFill>
                  <a:srgbClr val="4C5A6B"/>
                </a:solidFill>
                <a:latin typeface="Poppins"/>
              </a:rPr>
              <a:t>across many days, the true outcome falls inside the set ~90% of the time. The UI explicitly avoids the wrong reading — it is NOT a 90% correctness probability for one forecast.</a:t>
            </a:r>
          </a:p>
          <a:p>
            <a:pPr algn="l">
              <a:spcAft>
                <a:spcPts val="1300"/>
              </a:spcAft>
            </a:pPr>
            <a:r>
              <a:rPr sz="1350" b="1">
                <a:solidFill>
                  <a:srgbClr val="16202E"/>
                </a:solidFill>
                <a:latin typeface="Poppins"/>
              </a:rPr>
              <a:t>User-facing layer:  </a:t>
            </a:r>
            <a:r>
              <a:rPr sz="1350" b="0">
                <a:solidFill>
                  <a:srgbClr val="4C5A6B"/>
                </a:solidFill>
                <a:latin typeface="Poppins"/>
              </a:rPr>
              <a:t>confidence bands (LOW / MODERATE / HIGH / VERY HIGH) derived from calibrated probability, labelled as heuristic indicators.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pPr algn="l">
              <a:spcAft>
                <a:spcPts val="400"/>
              </a:spcAft>
            </a:pPr>
            <a:r>
              <a:rPr sz="1100" b="1">
                <a:solidFill>
                  <a:srgbClr val="8494A7"/>
                </a:solidFill>
                <a:latin typeface="Poppins"/>
              </a:rPr>
              <a:t>THE APPLICATION</a:t>
            </a:r>
          </a:p>
        </p:txBody>
      </p:sp>
      <p:sp>
        <p:nvSpPr>
          <p:cNvPr id="3" name="TextBox 2"/>
          <p:cNvSpPr txBox="1"/>
          <p:nvPr/>
        </p:nvSpPr>
        <p:spPr>
          <a:xfrm>
            <a:off x="640080" y="685800"/>
            <a:ext cx="10881360" cy="822960"/>
          </a:xfrm>
          <a:prstGeom prst="rect">
            <a:avLst/>
          </a:prstGeom>
          <a:noFill/>
        </p:spPr>
        <p:txBody>
          <a:bodyPr wrap="square">
            <a:spAutoFit/>
          </a:bodyPr>
          <a:lstStyle/>
          <a:p>
            <a:pPr algn="l">
              <a:spcAft>
                <a:spcPts val="400"/>
              </a:spcAft>
            </a:pPr>
            <a:r>
              <a:rPr sz="3000" b="1">
                <a:solidFill>
                  <a:srgbClr val="16202E"/>
                </a:solidFill>
                <a:latin typeface="Poppins"/>
              </a:rPr>
              <a:t>Rainfall Uncertainty Lab — seven pages</a:t>
            </a:r>
          </a:p>
        </p:txBody>
      </p:sp>
      <p:sp>
        <p:nvSpPr>
          <p:cNvPr id="4" name="Rectangle 3"/>
          <p:cNvSpPr/>
          <p:nvPr/>
        </p:nvSpPr>
        <p:spPr>
          <a:xfrm>
            <a:off x="640080" y="1508760"/>
            <a:ext cx="128016" cy="4572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90472"/>
            <a:ext cx="10607040" cy="548640"/>
          </a:xfrm>
          <a:prstGeom prst="rect">
            <a:avLst/>
          </a:prstGeom>
          <a:noFill/>
        </p:spPr>
        <p:txBody>
          <a:bodyPr wrap="square">
            <a:spAutoFit/>
          </a:bodyPr>
          <a:lstStyle/>
          <a:p>
            <a:pPr algn="l">
              <a:spcAft>
                <a:spcPts val="400"/>
              </a:spcAft>
            </a:pPr>
            <a:r>
              <a:rPr sz="1300" b="1">
                <a:solidFill>
                  <a:srgbClr val="16202E"/>
                </a:solidFill>
                <a:latin typeface="Poppins"/>
              </a:rPr>
              <a:t>Prediction dashboard   </a:t>
            </a:r>
            <a:r>
              <a:rPr sz="1150" b="0">
                <a:solidFill>
                  <a:srgbClr val="4C5A6B"/>
                </a:solidFill>
                <a:latin typeface="Poppins"/>
              </a:rPr>
              <a:t>LIVE forecast for the real calendar tomorrow (plus historical backtest mode) — probability track, prediction-set boxes, confidence scale, feature influence, history charts</a:t>
            </a:r>
          </a:p>
        </p:txBody>
      </p:sp>
      <p:sp>
        <p:nvSpPr>
          <p:cNvPr id="6" name="Rectangle 5"/>
          <p:cNvSpPr/>
          <p:nvPr/>
        </p:nvSpPr>
        <p:spPr>
          <a:xfrm>
            <a:off x="640080" y="2167128"/>
            <a:ext cx="128016" cy="4572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48840"/>
            <a:ext cx="10607040" cy="548640"/>
          </a:xfrm>
          <a:prstGeom prst="rect">
            <a:avLst/>
          </a:prstGeom>
          <a:noFill/>
        </p:spPr>
        <p:txBody>
          <a:bodyPr wrap="square">
            <a:spAutoFit/>
          </a:bodyPr>
          <a:lstStyle/>
          <a:p>
            <a:pPr algn="l">
              <a:spcAft>
                <a:spcPts val="400"/>
              </a:spcAft>
            </a:pPr>
            <a:r>
              <a:rPr sz="1300" b="1">
                <a:solidFill>
                  <a:srgbClr val="16202E"/>
                </a:solidFill>
                <a:latin typeface="Poppins"/>
              </a:rPr>
              <a:t>Dataset explorer   </a:t>
            </a:r>
            <a:r>
              <a:rPr sz="1150" b="0">
                <a:solidFill>
                  <a:srgbClr val="4C5A6B"/>
                </a:solidFill>
                <a:latin typeface="Poppins"/>
              </a:rPr>
              <a:t>inspection report, column mapping, preprocessing counts, record browser, CSV export</a:t>
            </a:r>
          </a:p>
        </p:txBody>
      </p:sp>
      <p:sp>
        <p:nvSpPr>
          <p:cNvPr id="8" name="Rectangle 7"/>
          <p:cNvSpPr/>
          <p:nvPr/>
        </p:nvSpPr>
        <p:spPr>
          <a:xfrm>
            <a:off x="640080" y="2825496"/>
            <a:ext cx="128016" cy="4572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807208"/>
            <a:ext cx="10607040" cy="548640"/>
          </a:xfrm>
          <a:prstGeom prst="rect">
            <a:avLst/>
          </a:prstGeom>
          <a:noFill/>
        </p:spPr>
        <p:txBody>
          <a:bodyPr wrap="square">
            <a:spAutoFit/>
          </a:bodyPr>
          <a:lstStyle/>
          <a:p>
            <a:pPr algn="l">
              <a:spcAft>
                <a:spcPts val="400"/>
              </a:spcAft>
            </a:pPr>
            <a:r>
              <a:rPr sz="1300" b="1">
                <a:solidFill>
                  <a:srgbClr val="16202E"/>
                </a:solidFill>
                <a:latin typeface="Poppins"/>
              </a:rPr>
              <a:t>Model performance   </a:t>
            </a:r>
            <a:r>
              <a:rPr sz="1150" b="0">
                <a:solidFill>
                  <a:srgbClr val="4C5A6B"/>
                </a:solidFill>
                <a:latin typeface="Poppins"/>
              </a:rPr>
              <a:t>test metrics, confusion matrix, ROC &amp; calibration curves, conformal diagnostics, feature importance</a:t>
            </a:r>
          </a:p>
        </p:txBody>
      </p:sp>
      <p:sp>
        <p:nvSpPr>
          <p:cNvPr id="10" name="Rectangle 9"/>
          <p:cNvSpPr/>
          <p:nvPr/>
        </p:nvSpPr>
        <p:spPr>
          <a:xfrm>
            <a:off x="640080" y="3483864"/>
            <a:ext cx="128016" cy="4572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465576"/>
            <a:ext cx="10607040" cy="548640"/>
          </a:xfrm>
          <a:prstGeom prst="rect">
            <a:avLst/>
          </a:prstGeom>
          <a:noFill/>
        </p:spPr>
        <p:txBody>
          <a:bodyPr wrap="square">
            <a:spAutoFit/>
          </a:bodyPr>
          <a:lstStyle/>
          <a:p>
            <a:pPr algn="l">
              <a:spcAft>
                <a:spcPts val="400"/>
              </a:spcAft>
            </a:pPr>
            <a:r>
              <a:rPr sz="1300" b="1">
                <a:solidFill>
                  <a:srgbClr val="16202E"/>
                </a:solidFill>
                <a:latin typeface="Poppins"/>
              </a:rPr>
              <a:t>User study   </a:t>
            </a:r>
            <a:r>
              <a:rPr sz="1150" b="0">
                <a:solidFill>
                  <a:srgbClr val="4C5A6B"/>
                </a:solidFill>
                <a:latin typeface="Poppins"/>
              </a:rPr>
              <a:t>the controlled experiment — scenario cards, decision task, timing</a:t>
            </a:r>
          </a:p>
        </p:txBody>
      </p:sp>
      <p:sp>
        <p:nvSpPr>
          <p:cNvPr id="12" name="Rectangle 11"/>
          <p:cNvSpPr/>
          <p:nvPr/>
        </p:nvSpPr>
        <p:spPr>
          <a:xfrm>
            <a:off x="640080" y="4142232"/>
            <a:ext cx="128016" cy="4572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23944"/>
            <a:ext cx="10607040" cy="548640"/>
          </a:xfrm>
          <a:prstGeom prst="rect">
            <a:avLst/>
          </a:prstGeom>
          <a:noFill/>
        </p:spPr>
        <p:txBody>
          <a:bodyPr wrap="square">
            <a:spAutoFit/>
          </a:bodyPr>
          <a:lstStyle/>
          <a:p>
            <a:pPr algn="l">
              <a:spcAft>
                <a:spcPts val="400"/>
              </a:spcAft>
            </a:pPr>
            <a:r>
              <a:rPr sz="1300" b="1">
                <a:solidFill>
                  <a:srgbClr val="16202E"/>
                </a:solidFill>
                <a:latin typeface="Poppins"/>
              </a:rPr>
              <a:t>Study results   </a:t>
            </a:r>
            <a:r>
              <a:rPr sz="1150" b="0">
                <a:solidFill>
                  <a:srgbClr val="4C5A6B"/>
                </a:solidFill>
                <a:latin typeface="Poppins"/>
              </a:rPr>
              <a:t>condition comparison, overconfidence, decision changes, statistical tests</a:t>
            </a:r>
          </a:p>
        </p:txBody>
      </p:sp>
      <p:sp>
        <p:nvSpPr>
          <p:cNvPr id="14" name="Rectangle 13"/>
          <p:cNvSpPr/>
          <p:nvPr/>
        </p:nvSpPr>
        <p:spPr>
          <a:xfrm>
            <a:off x="640080" y="4800600"/>
            <a:ext cx="128016" cy="4572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782312"/>
            <a:ext cx="10607040" cy="548640"/>
          </a:xfrm>
          <a:prstGeom prst="rect">
            <a:avLst/>
          </a:prstGeom>
          <a:noFill/>
        </p:spPr>
        <p:txBody>
          <a:bodyPr wrap="square">
            <a:spAutoFit/>
          </a:bodyPr>
          <a:lstStyle/>
          <a:p>
            <a:pPr algn="l">
              <a:spcAft>
                <a:spcPts val="400"/>
              </a:spcAft>
            </a:pPr>
            <a:r>
              <a:rPr sz="1300" b="1">
                <a:solidFill>
                  <a:srgbClr val="16202E"/>
                </a:solidFill>
                <a:latin typeface="Poppins"/>
              </a:rPr>
              <a:t>Training &amp; config   </a:t>
            </a:r>
            <a:r>
              <a:rPr sz="1150" b="0">
                <a:solidFill>
                  <a:srgbClr val="4C5A6B"/>
                </a:solidFill>
                <a:latin typeface="Poppins"/>
              </a:rPr>
              <a:t>thresholds, split fractions, hyperparameters, confidence bands, column mapping, retrain</a:t>
            </a:r>
          </a:p>
        </p:txBody>
      </p:sp>
      <p:sp>
        <p:nvSpPr>
          <p:cNvPr id="16" name="Rectangle 15"/>
          <p:cNvSpPr/>
          <p:nvPr/>
        </p:nvSpPr>
        <p:spPr>
          <a:xfrm>
            <a:off x="640080" y="5458968"/>
            <a:ext cx="128016" cy="4572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440680"/>
            <a:ext cx="10607040" cy="548640"/>
          </a:xfrm>
          <a:prstGeom prst="rect">
            <a:avLst/>
          </a:prstGeom>
          <a:noFill/>
        </p:spPr>
        <p:txBody>
          <a:bodyPr wrap="square">
            <a:spAutoFit/>
          </a:bodyPr>
          <a:lstStyle/>
          <a:p>
            <a:pPr algn="l">
              <a:spcAft>
                <a:spcPts val="400"/>
              </a:spcAft>
            </a:pPr>
            <a:r>
              <a:rPr sz="1300" b="1">
                <a:solidFill>
                  <a:srgbClr val="16202E"/>
                </a:solidFill>
                <a:latin typeface="Poppins"/>
              </a:rPr>
              <a:t>About   </a:t>
            </a:r>
            <a:r>
              <a:rPr sz="1150" b="0">
                <a:solidFill>
                  <a:srgbClr val="4C5A6B"/>
                </a:solidFill>
                <a:latin typeface="Poppins"/>
              </a:rPr>
              <a:t>research question, pipeline, definitions, limitations</a:t>
            </a:r>
          </a:p>
        </p:txBody>
      </p:sp>
      <p:sp>
        <p:nvSpPr>
          <p:cNvPr id="18" name="TextBox 17"/>
          <p:cNvSpPr txBox="1"/>
          <p:nvPr/>
        </p:nvSpPr>
        <p:spPr>
          <a:xfrm>
            <a:off x="640080" y="6163056"/>
            <a:ext cx="10972800" cy="457200"/>
          </a:xfrm>
          <a:prstGeom prst="rect">
            <a:avLst/>
          </a:prstGeom>
          <a:noFill/>
        </p:spPr>
        <p:txBody>
          <a:bodyPr wrap="square">
            <a:spAutoFit/>
          </a:bodyPr>
          <a:lstStyle/>
          <a:p>
            <a:pPr algn="l">
              <a:spcAft>
                <a:spcPts val="400"/>
              </a:spcAft>
            </a:pPr>
            <a:r>
              <a:rPr sz="1100" b="0">
                <a:solidFill>
                  <a:srgbClr val="8494A7"/>
                </a:solidFill>
                <a:latin typeface="Poppins"/>
              </a:rPr>
              <a:t>Dark-navy sidebar shell · stat tiles · solid status pills · info strips · one first-run pipeline that caches every artifact.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pPr algn="l">
              <a:spcAft>
                <a:spcPts val="400"/>
              </a:spcAft>
            </a:pPr>
            <a:r>
              <a:rPr sz="1100" b="1">
                <a:solidFill>
                  <a:srgbClr val="8494A7"/>
                </a:solidFill>
                <a:latin typeface="Poppins"/>
              </a:rPr>
              <a:t>REAL-TIME OPERATION</a:t>
            </a:r>
          </a:p>
        </p:txBody>
      </p:sp>
      <p:sp>
        <p:nvSpPr>
          <p:cNvPr id="3" name="TextBox 2"/>
          <p:cNvSpPr txBox="1"/>
          <p:nvPr/>
        </p:nvSpPr>
        <p:spPr>
          <a:xfrm>
            <a:off x="640080" y="685800"/>
            <a:ext cx="10881360" cy="822960"/>
          </a:xfrm>
          <a:prstGeom prst="rect">
            <a:avLst/>
          </a:prstGeom>
          <a:noFill/>
        </p:spPr>
        <p:txBody>
          <a:bodyPr wrap="square">
            <a:spAutoFit/>
          </a:bodyPr>
          <a:lstStyle/>
          <a:p>
            <a:pPr algn="l">
              <a:spcAft>
                <a:spcPts val="400"/>
              </a:spcAft>
            </a:pPr>
            <a:r>
              <a:rPr sz="3000" b="1">
                <a:solidFill>
                  <a:srgbClr val="16202E"/>
                </a:solidFill>
                <a:latin typeface="Poppins"/>
              </a:rPr>
              <a:t>Learning from history, forecasting the real tomorrow</a:t>
            </a:r>
          </a:p>
        </p:txBody>
      </p:sp>
      <p:sp>
        <p:nvSpPr>
          <p:cNvPr id="4" name="TextBox 3"/>
          <p:cNvSpPr txBox="1"/>
          <p:nvPr/>
        </p:nvSpPr>
        <p:spPr>
          <a:xfrm>
            <a:off x="640080" y="1554480"/>
            <a:ext cx="10972800" cy="4572000"/>
          </a:xfrm>
          <a:prstGeom prst="rect">
            <a:avLst/>
          </a:prstGeom>
          <a:noFill/>
        </p:spPr>
        <p:txBody>
          <a:bodyPr wrap="square">
            <a:spAutoFit/>
          </a:bodyPr>
          <a:lstStyle/>
          <a:p>
            <a:pPr algn="l">
              <a:spcAft>
                <a:spcPts val="1200"/>
              </a:spcAft>
            </a:pPr>
            <a:r>
              <a:rPr sz="1300" b="1">
                <a:solidFill>
                  <a:srgbClr val="16202E"/>
                </a:solidFill>
                <a:latin typeface="Poppins"/>
              </a:rPr>
              <a:t>The dataset ends before today.  </a:t>
            </a:r>
            <a:r>
              <a:rPr sz="1300" b="0">
                <a:solidFill>
                  <a:srgbClr val="4C5A6B"/>
                </a:solidFill>
                <a:latin typeface="Poppins"/>
              </a:rPr>
              <a:t>It is what the model LEARNS from — 2015-01-01 to 2025-02-10. It cannot supply today's weather.</a:t>
            </a:r>
          </a:p>
          <a:p>
            <a:pPr algn="l">
              <a:spcAft>
                <a:spcPts val="1200"/>
              </a:spcAft>
            </a:pPr>
            <a:r>
              <a:rPr sz="1300" b="1">
                <a:solidFill>
                  <a:srgbClr val="16202E"/>
                </a:solidFill>
                <a:latin typeface="Poppins"/>
              </a:rPr>
              <a:t>Live conditions close the gap.  </a:t>
            </a:r>
            <a:r>
              <a:rPr sz="1300" b="0">
                <a:solidFill>
                  <a:srgbClr val="4C5A6B"/>
                </a:solidFill>
                <a:latin typeface="Poppins"/>
              </a:rPr>
              <a:t>For the selected station's coordinates the app fetches recent daily observations (Open-Meteo, free, no key) and assembles them into exactly the same leakage-safe feature row used in training: rainfall today, lags 1-3, rolling 3/7-day sums, temperature and pressure changes, calendar and station encodings.</a:t>
            </a:r>
          </a:p>
          <a:p>
            <a:pPr algn="l">
              <a:spcAft>
                <a:spcPts val="1200"/>
              </a:spcAft>
            </a:pPr>
            <a:r>
              <a:rPr sz="1300" b="1">
                <a:solidFill>
                  <a:srgbClr val="16202E"/>
                </a:solidFill>
                <a:latin typeface="Poppins"/>
              </a:rPr>
              <a:t>Variables matched to the training distribution.  </a:t>
            </a:r>
            <a:r>
              <a:rPr sz="1300" b="0">
                <a:solidFill>
                  <a:srgbClr val="4C5A6B"/>
                </a:solidFill>
                <a:latin typeface="Poppins"/>
              </a:rPr>
              <a:t>Sea-level pressure (not station pressure), daily mean wind speed, daily precipitation total — so live rows look like training rows.</a:t>
            </a:r>
          </a:p>
          <a:p>
            <a:pPr algn="l">
              <a:spcAft>
                <a:spcPts val="1200"/>
              </a:spcAft>
            </a:pPr>
            <a:r>
              <a:rPr sz="1300" b="1">
                <a:solidFill>
                  <a:srgbClr val="16202E"/>
                </a:solidFill>
                <a:latin typeface="Poppins"/>
              </a:rPr>
              <a:t>Honest fallback.  </a:t>
            </a:r>
            <a:r>
              <a:rPr sz="1300" b="0">
                <a:solidFill>
                  <a:srgbClr val="4C5A6B"/>
                </a:solidFill>
                <a:latin typeface="Poppins"/>
              </a:rPr>
              <a:t>If the feed is unreachable the card switches from LIVE CONDITIONS to CLIMATOLOGY FALLBACK and says the estimate uses the station's typical conditions for this time of year. Current weather is never invented.</a:t>
            </a:r>
          </a:p>
          <a:p>
            <a:pPr algn="l">
              <a:spcAft>
                <a:spcPts val="1200"/>
              </a:spcAft>
            </a:pPr>
            <a:r>
              <a:rPr sz="1300" b="1">
                <a:solidFill>
                  <a:srgbClr val="16202E"/>
                </a:solidFill>
                <a:latin typeface="Poppins"/>
              </a:rPr>
              <a:t>Backtest mode remains.  </a:t>
            </a:r>
            <a:r>
              <a:rPr sz="1300" b="0">
                <a:solidFill>
                  <a:srgbClr val="4C5A6B"/>
                </a:solidFill>
                <a:latin typeface="Poppins"/>
              </a:rPr>
              <a:t>Any historical date can still be replayed with the real outcome revealed — that is how the reported metrics were measured.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pPr algn="l">
              <a:spcAft>
                <a:spcPts val="400"/>
              </a:spcAft>
            </a:pPr>
            <a:r>
              <a:rPr sz="1100" b="1">
                <a:solidFill>
                  <a:srgbClr val="8494A7"/>
                </a:solidFill>
                <a:latin typeface="Poppins"/>
              </a:rPr>
              <a:t>THE EXPERIMENT</a:t>
            </a:r>
          </a:p>
        </p:txBody>
      </p:sp>
      <p:sp>
        <p:nvSpPr>
          <p:cNvPr id="3" name="TextBox 2"/>
          <p:cNvSpPr txBox="1"/>
          <p:nvPr/>
        </p:nvSpPr>
        <p:spPr>
          <a:xfrm>
            <a:off x="640080" y="685800"/>
            <a:ext cx="10881360" cy="822960"/>
          </a:xfrm>
          <a:prstGeom prst="rect">
            <a:avLst/>
          </a:prstGeom>
          <a:noFill/>
        </p:spPr>
        <p:txBody>
          <a:bodyPr wrap="square">
            <a:spAutoFit/>
          </a:bodyPr>
          <a:lstStyle/>
          <a:p>
            <a:pPr algn="l">
              <a:spcAft>
                <a:spcPts val="400"/>
              </a:spcAft>
            </a:pPr>
            <a:r>
              <a:rPr sz="3000" b="1">
                <a:solidFill>
                  <a:srgbClr val="16202E"/>
                </a:solidFill>
                <a:latin typeface="Poppins"/>
              </a:rPr>
              <a:t>Controlled user study — POINT vs UNCERTAINTY</a:t>
            </a:r>
          </a:p>
        </p:txBody>
      </p:sp>
      <p:sp>
        <p:nvSpPr>
          <p:cNvPr id="4" name="TextBox 3"/>
          <p:cNvSpPr txBox="1"/>
          <p:nvPr/>
        </p:nvSpPr>
        <p:spPr>
          <a:xfrm>
            <a:off x="640080" y="1554480"/>
            <a:ext cx="10972800" cy="4572000"/>
          </a:xfrm>
          <a:prstGeom prst="rect">
            <a:avLst/>
          </a:prstGeom>
          <a:noFill/>
        </p:spPr>
        <p:txBody>
          <a:bodyPr wrap="square">
            <a:spAutoFit/>
          </a:bodyPr>
          <a:lstStyle/>
          <a:p>
            <a:pPr algn="l">
              <a:spcAft>
                <a:spcPts val="1300"/>
              </a:spcAft>
            </a:pPr>
            <a:r>
              <a:rPr sz="1350" b="1">
                <a:solidFill>
                  <a:srgbClr val="16202E"/>
                </a:solidFill>
                <a:latin typeface="Poppins"/>
              </a:rPr>
              <a:t>Design: within-subject, counterbalanced.  </a:t>
            </a:r>
            <a:r>
              <a:rPr sz="1350" b="0">
                <a:solidFill>
                  <a:srgbClr val="4C5A6B"/>
                </a:solidFill>
                <a:latin typeface="Poppins"/>
              </a:rPr>
              <a:t>10 scenarios per participant from the held-out test period; a random half rendered as POINT (prediction + probability), half as UNCERTAINTY (adds confidence, uncertainty, 90% prediction set). Order randomised; renderings otherwise identical.</a:t>
            </a:r>
          </a:p>
          <a:p>
            <a:pPr algn="l">
              <a:spcAft>
                <a:spcPts val="1300"/>
              </a:spcAft>
            </a:pPr>
            <a:r>
              <a:rPr sz="1350" b="1">
                <a:solidFill>
                  <a:srgbClr val="16202E"/>
                </a:solidFill>
                <a:latin typeface="Poppins"/>
              </a:rPr>
              <a:t>Task:  </a:t>
            </a:r>
            <a:r>
              <a:rPr sz="1350" b="0">
                <a:solidFill>
                  <a:srgbClr val="4C5A6B"/>
                </a:solidFill>
                <a:latin typeface="Poppins"/>
              </a:rPr>
              <a:t>"Would you plan an outdoor event tomorrow?" YES / NO, stated confidence 1–5, decision time measured; outcome revealed only after the decision is saved.</a:t>
            </a:r>
          </a:p>
          <a:p>
            <a:pPr algn="l">
              <a:spcAft>
                <a:spcPts val="1300"/>
              </a:spcAft>
            </a:pPr>
            <a:r>
              <a:rPr sz="1350" b="1">
                <a:solidFill>
                  <a:srgbClr val="16202E"/>
                </a:solidFill>
                <a:latin typeface="Poppins"/>
              </a:rPr>
              <a:t>Ground truth:  </a:t>
            </a:r>
            <a:r>
              <a:rPr sz="1350" b="0">
                <a:solidFill>
                  <a:srgbClr val="4C5A6B"/>
                </a:solidFill>
                <a:latin typeface="Poppins"/>
              </a:rPr>
              <a:t>planning is appropriate iff no significant rain actually fell; declining is appropriate iff it did.</a:t>
            </a:r>
          </a:p>
          <a:p>
            <a:pPr algn="l">
              <a:spcAft>
                <a:spcPts val="1300"/>
              </a:spcAft>
            </a:pPr>
            <a:r>
              <a:rPr sz="1350" b="1">
                <a:solidFill>
                  <a:srgbClr val="16202E"/>
                </a:solidFill>
                <a:latin typeface="Poppins"/>
              </a:rPr>
              <a:t>Logging:  </a:t>
            </a:r>
            <a:r>
              <a:rPr sz="1350" b="0">
                <a:solidFill>
                  <a:srgbClr val="4C5A6B"/>
                </a:solidFill>
                <a:latin typeface="Poppins"/>
              </a:rPr>
              <a:t>SQLite — participant/session UUIDs only, no accounts, no PII.</a:t>
            </a:r>
          </a:p>
          <a:p>
            <a:pPr algn="l">
              <a:spcAft>
                <a:spcPts val="1300"/>
              </a:spcAft>
            </a:pPr>
            <a:r>
              <a:rPr sz="1350" b="1">
                <a:solidFill>
                  <a:srgbClr val="16202E"/>
                </a:solidFill>
                <a:latin typeface="Poppins"/>
              </a:rPr>
              <a:t>Scenario pool:  </a:t>
            </a:r>
            <a:r>
              <a:rPr sz="1350" b="0">
                <a:solidFill>
                  <a:srgbClr val="4C5A6B"/>
                </a:solidFill>
                <a:latin typeface="Poppins"/>
              </a:rPr>
              <a:t>stratified over ambiguous vs decisive predictions and rain vs no-rain outcomes.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pPr algn="l">
              <a:spcAft>
                <a:spcPts val="400"/>
              </a:spcAft>
            </a:pPr>
            <a:r>
              <a:rPr sz="1100" b="1">
                <a:solidFill>
                  <a:srgbClr val="8494A7"/>
                </a:solidFill>
                <a:latin typeface="Poppins"/>
              </a:rPr>
              <a:t>ANALYSIS</a:t>
            </a:r>
          </a:p>
        </p:txBody>
      </p:sp>
      <p:sp>
        <p:nvSpPr>
          <p:cNvPr id="3" name="TextBox 2"/>
          <p:cNvSpPr txBox="1"/>
          <p:nvPr/>
        </p:nvSpPr>
        <p:spPr>
          <a:xfrm>
            <a:off x="640080" y="685800"/>
            <a:ext cx="10881360" cy="822960"/>
          </a:xfrm>
          <a:prstGeom prst="rect">
            <a:avLst/>
          </a:prstGeom>
          <a:noFill/>
        </p:spPr>
        <p:txBody>
          <a:bodyPr wrap="square">
            <a:spAutoFit/>
          </a:bodyPr>
          <a:lstStyle/>
          <a:p>
            <a:pPr algn="l">
              <a:spcAft>
                <a:spcPts val="400"/>
              </a:spcAft>
            </a:pPr>
            <a:r>
              <a:rPr sz="3000" b="1">
                <a:solidFill>
                  <a:srgbClr val="16202E"/>
                </a:solidFill>
                <a:latin typeface="Poppins"/>
              </a:rPr>
              <a:t>Statistical analysis — data-driven test selection</a:t>
            </a:r>
          </a:p>
        </p:txBody>
      </p:sp>
      <p:sp>
        <p:nvSpPr>
          <p:cNvPr id="4" name="TextBox 3"/>
          <p:cNvSpPr txBox="1"/>
          <p:nvPr/>
        </p:nvSpPr>
        <p:spPr>
          <a:xfrm>
            <a:off x="640080" y="1554480"/>
            <a:ext cx="10972800" cy="4572000"/>
          </a:xfrm>
          <a:prstGeom prst="rect">
            <a:avLst/>
          </a:prstGeom>
          <a:noFill/>
        </p:spPr>
        <p:txBody>
          <a:bodyPr wrap="square">
            <a:spAutoFit/>
          </a:bodyPr>
          <a:lstStyle/>
          <a:p>
            <a:pPr algn="l">
              <a:spcAft>
                <a:spcPts val="1300"/>
              </a:spcAft>
            </a:pPr>
            <a:r>
              <a:rPr sz="1350" b="1">
                <a:solidFill>
                  <a:srgbClr val="16202E"/>
                </a:solidFill>
                <a:latin typeface="Poppins"/>
              </a:rPr>
              <a:t>Decision accuracy (primary):  </a:t>
            </a:r>
            <a:r>
              <a:rPr sz="1350" b="0">
                <a:solidFill>
                  <a:srgbClr val="4C5A6B"/>
                </a:solidFill>
                <a:latin typeface="Poppins"/>
              </a:rPr>
              <a:t>2×2 contingency — Fisher's exact when any expected cell &lt; 5, else chi-square with Yates' correction; Cohen's h; Wilson 95% CIs.</a:t>
            </a:r>
          </a:p>
          <a:p>
            <a:pPr algn="l">
              <a:spcAft>
                <a:spcPts val="1300"/>
              </a:spcAft>
            </a:pPr>
            <a:r>
              <a:rPr sz="1350" b="1">
                <a:solidFill>
                  <a:srgbClr val="16202E"/>
                </a:solidFill>
                <a:latin typeface="Poppins"/>
              </a:rPr>
              <a:t>Decision time:  </a:t>
            </a:r>
            <a:r>
              <a:rPr sz="1350" b="0">
                <a:solidFill>
                  <a:srgbClr val="4C5A6B"/>
                </a:solidFill>
                <a:latin typeface="Poppins"/>
              </a:rPr>
              <a:t>Welch's t-test only if Shapiro-Wilk is consistent with normality in both groups, otherwise Mann-Whitney U (times are right-skewed); Cohen's d or rank-biserial r.</a:t>
            </a:r>
          </a:p>
          <a:p>
            <a:pPr algn="l">
              <a:spcAft>
                <a:spcPts val="1300"/>
              </a:spcAft>
            </a:pPr>
            <a:r>
              <a:rPr sz="1350" b="1">
                <a:solidFill>
                  <a:srgbClr val="16202E"/>
                </a:solidFill>
                <a:latin typeface="Poppins"/>
              </a:rPr>
              <a:t>Stated confidence (ordinal 1-5):  </a:t>
            </a:r>
            <a:r>
              <a:rPr sz="1350" b="0">
                <a:solidFill>
                  <a:srgbClr val="4C5A6B"/>
                </a:solidFill>
                <a:latin typeface="Poppins"/>
              </a:rPr>
              <a:t>Mann-Whitney U.</a:t>
            </a:r>
          </a:p>
          <a:p>
            <a:pPr algn="l">
              <a:spcAft>
                <a:spcPts val="1300"/>
              </a:spcAft>
            </a:pPr>
            <a:r>
              <a:rPr sz="1350" b="1">
                <a:solidFill>
                  <a:srgbClr val="16202E"/>
                </a:solidFill>
                <a:latin typeface="Poppins"/>
              </a:rPr>
              <a:t>Overconfidence:  </a:t>
            </a:r>
            <a:r>
              <a:rPr sz="1350" b="0">
                <a:solidFill>
                  <a:srgbClr val="4C5A6B"/>
                </a:solidFill>
                <a:latin typeface="Poppins"/>
              </a:rPr>
              <a:t>stated confidence (rescaled 0-1) minus actual accuracy, per condition.</a:t>
            </a:r>
          </a:p>
          <a:p>
            <a:pPr algn="l">
              <a:spcAft>
                <a:spcPts val="1300"/>
              </a:spcAft>
            </a:pPr>
            <a:r>
              <a:rPr sz="1350" b="1">
                <a:solidFill>
                  <a:srgbClr val="16202E"/>
                </a:solidFill>
                <a:latin typeface="Poppins"/>
              </a:rPr>
              <a:t>Integrity rules:  </a:t>
            </a:r>
            <a:r>
              <a:rPr sz="1350" b="0">
                <a:solidFill>
                  <a:srgbClr val="4C5A6B"/>
                </a:solidFill>
                <a:latin typeface="Poppins"/>
              </a:rPr>
              <a:t>results are labelled EXPLORATORY below 30 decisions/condition or 5 participants; the results page shows 'No study data collected yet' until real decisions exist; the demo-data generator is clearly synthetic, excluded by default and one-click deletable.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pPr algn="l">
              <a:spcAft>
                <a:spcPts val="400"/>
              </a:spcAft>
            </a:pPr>
            <a:r>
              <a:rPr sz="1100" b="1">
                <a:solidFill>
                  <a:srgbClr val="8494A7"/>
                </a:solidFill>
                <a:latin typeface="Poppins"/>
              </a:rPr>
              <a:t>REPRODUCE</a:t>
            </a:r>
          </a:p>
        </p:txBody>
      </p:sp>
      <p:sp>
        <p:nvSpPr>
          <p:cNvPr id="3" name="TextBox 2"/>
          <p:cNvSpPr txBox="1"/>
          <p:nvPr/>
        </p:nvSpPr>
        <p:spPr>
          <a:xfrm>
            <a:off x="640080" y="685800"/>
            <a:ext cx="10881360" cy="822960"/>
          </a:xfrm>
          <a:prstGeom prst="rect">
            <a:avLst/>
          </a:prstGeom>
          <a:noFill/>
        </p:spPr>
        <p:txBody>
          <a:bodyPr wrap="square">
            <a:spAutoFit/>
          </a:bodyPr>
          <a:lstStyle/>
          <a:p>
            <a:pPr algn="l">
              <a:spcAft>
                <a:spcPts val="400"/>
              </a:spcAft>
            </a:pPr>
            <a:r>
              <a:rPr sz="3000" b="1">
                <a:solidFill>
                  <a:srgbClr val="16202E"/>
                </a:solidFill>
                <a:latin typeface="Poppins"/>
              </a:rPr>
              <a:t>How to run</a:t>
            </a:r>
          </a:p>
        </p:txBody>
      </p:sp>
      <p:sp>
        <p:nvSpPr>
          <p:cNvPr id="4" name="Rectangle 3"/>
          <p:cNvSpPr/>
          <p:nvPr/>
        </p:nvSpPr>
        <p:spPr>
          <a:xfrm>
            <a:off x="640080" y="1554480"/>
            <a:ext cx="5394960" cy="13716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1005840"/>
          </a:xfrm>
          <a:prstGeom prst="rect">
            <a:avLst/>
          </a:prstGeom>
          <a:noFill/>
        </p:spPr>
        <p:txBody>
          <a:bodyPr wrap="square">
            <a:spAutoFit/>
          </a:bodyPr>
          <a:lstStyle/>
          <a:p>
            <a:pPr algn="l">
              <a:spcAft>
                <a:spcPts val="600"/>
              </a:spcAft>
            </a:pPr>
            <a:r>
              <a:rPr sz="1400" b="0">
                <a:solidFill>
                  <a:srgbClr val="9EC5F4"/>
                </a:solidFill>
                <a:latin typeface="Poppins"/>
              </a:rPr>
              <a:t>pip install -r requirements.txt</a:t>
            </a:r>
          </a:p>
          <a:p>
            <a:pPr algn="l">
              <a:spcAft>
                <a:spcPts val="600"/>
              </a:spcAft>
            </a:pPr>
            <a:r>
              <a:rPr sz="1400" b="0">
                <a:solidFill>
                  <a:srgbClr val="9EC5F4"/>
                </a:solidFill>
                <a:latin typeface="Poppins"/>
              </a:rPr>
              <a:t>streamlit run app.py</a:t>
            </a:r>
          </a:p>
        </p:txBody>
      </p:sp>
      <p:sp>
        <p:nvSpPr>
          <p:cNvPr id="6" name="TextBox 5"/>
          <p:cNvSpPr txBox="1"/>
          <p:nvPr/>
        </p:nvSpPr>
        <p:spPr>
          <a:xfrm>
            <a:off x="640080" y="3246120"/>
            <a:ext cx="5669280" cy="4572000"/>
          </a:xfrm>
          <a:prstGeom prst="rect">
            <a:avLst/>
          </a:prstGeom>
          <a:noFill/>
        </p:spPr>
        <p:txBody>
          <a:bodyPr wrap="square">
            <a:spAutoFit/>
          </a:bodyPr>
          <a:lstStyle/>
          <a:p>
            <a:pPr algn="l">
              <a:spcAft>
                <a:spcPts val="1000"/>
              </a:spcAft>
            </a:pPr>
            <a:r>
              <a:rPr sz="1250" b="1">
                <a:solidFill>
                  <a:srgbClr val="16202E"/>
                </a:solidFill>
                <a:latin typeface="Poppins"/>
              </a:rPr>
              <a:t>First run:  </a:t>
            </a:r>
            <a:r>
              <a:rPr sz="1250" b="0">
                <a:solidFill>
                  <a:srgbClr val="4C5A6B"/>
                </a:solidFill>
                <a:latin typeface="Poppins"/>
              </a:rPr>
              <a:t>loads the dataset, inspects and cleans it, builds the target and features, trains and calibrates, computes the conformal quantile, evaluates — then caches everything in models/.</a:t>
            </a:r>
          </a:p>
          <a:p>
            <a:pPr algn="l">
              <a:spcAft>
                <a:spcPts val="1000"/>
              </a:spcAft>
            </a:pPr>
            <a:r>
              <a:rPr sz="1250" b="1">
                <a:solidFill>
                  <a:srgbClr val="16202E"/>
                </a:solidFill>
                <a:latin typeface="Poppins"/>
              </a:rPr>
              <a:t>Every later start:  </a:t>
            </a:r>
            <a:r>
              <a:rPr sz="1250" b="0">
                <a:solidFill>
                  <a:srgbClr val="4C5A6B"/>
                </a:solidFill>
                <a:latin typeface="Poppins"/>
              </a:rPr>
              <a:t>loads in seconds; retrains only when the dataset file or a training-relevant setting changes.</a:t>
            </a:r>
          </a:p>
          <a:p>
            <a:pPr algn="l">
              <a:spcAft>
                <a:spcPts val="1000"/>
              </a:spcAft>
            </a:pPr>
            <a:r>
              <a:rPr sz="1250" b="1">
                <a:solidFill>
                  <a:srgbClr val="16202E"/>
                </a:solidFill>
                <a:latin typeface="Poppins"/>
              </a:rPr>
              <a:t>Headless check:  </a:t>
            </a:r>
            <a:r>
              <a:rPr sz="1250" b="0">
                <a:solidFill>
                  <a:srgbClr val="4C5A6B"/>
                </a:solidFill>
                <a:latin typeface="Poppins"/>
              </a:rPr>
              <a:t>python scripts/smoke_test.py runs the whole pipeline end-to-end without the UI.</a:t>
            </a:r>
          </a:p>
          <a:p>
            <a:pPr algn="l">
              <a:spcAft>
                <a:spcPts val="1000"/>
              </a:spcAft>
            </a:pPr>
            <a:r>
              <a:rPr sz="1250" b="1">
                <a:solidFill>
                  <a:srgbClr val="16202E"/>
                </a:solidFill>
                <a:latin typeface="Poppins"/>
              </a:rPr>
              <a:t>Swap the dataset:  </a:t>
            </a:r>
            <a:r>
              <a:rPr sz="1250" b="0">
                <a:solidFill>
                  <a:srgbClr val="4C5A6B"/>
                </a:solidFill>
                <a:latin typeface="Poppins"/>
              </a:rPr>
              <a:t>drop any CSV/XLSX/Parquet with a date + rainfall column into data/ — roles are auto-detected.</a:t>
            </a:r>
          </a:p>
        </p:txBody>
      </p:sp>
      <p:sp>
        <p:nvSpPr>
          <p:cNvPr id="7" name="TextBox 6"/>
          <p:cNvSpPr txBox="1"/>
          <p:nvPr/>
        </p:nvSpPr>
        <p:spPr>
          <a:xfrm>
            <a:off x="6583680" y="1554480"/>
            <a:ext cx="5029200" cy="274320"/>
          </a:xfrm>
          <a:prstGeom prst="rect">
            <a:avLst/>
          </a:prstGeom>
          <a:noFill/>
        </p:spPr>
        <p:txBody>
          <a:bodyPr wrap="square">
            <a:spAutoFit/>
          </a:bodyPr>
          <a:lstStyle/>
          <a:p>
            <a:pPr algn="l">
              <a:spcAft>
                <a:spcPts val="400"/>
              </a:spcAft>
            </a:pPr>
            <a:r>
              <a:rPr sz="1050" b="1">
                <a:solidFill>
                  <a:srgbClr val="2A78D6"/>
                </a:solidFill>
                <a:latin typeface="Poppins"/>
              </a:rPr>
              <a:t>PROJECT STRUCTURE</a:t>
            </a:r>
          </a:p>
        </p:txBody>
      </p:sp>
      <p:sp>
        <p:nvSpPr>
          <p:cNvPr id="8" name="Rectangle 7"/>
          <p:cNvSpPr/>
          <p:nvPr/>
        </p:nvSpPr>
        <p:spPr>
          <a:xfrm>
            <a:off x="6583680" y="1920240"/>
            <a:ext cx="4937760" cy="3291840"/>
          </a:xfrm>
          <a:prstGeom prst="rect">
            <a:avLst/>
          </a:prstGeom>
          <a:solidFill>
            <a:srgbClr val="FFFFFF"/>
          </a:solidFill>
          <a:ln w="9525">
            <a:solidFill>
              <a:srgbClr val="E3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12280" y="2103120"/>
            <a:ext cx="4572000" cy="3017520"/>
          </a:xfrm>
          <a:prstGeom prst="rect">
            <a:avLst/>
          </a:prstGeom>
          <a:noFill/>
        </p:spPr>
        <p:txBody>
          <a:bodyPr wrap="square">
            <a:spAutoFit/>
          </a:bodyPr>
          <a:lstStyle/>
          <a:p>
            <a:pPr algn="l">
              <a:spcAft>
                <a:spcPts val="300"/>
              </a:spcAft>
            </a:pPr>
            <a:r>
              <a:rPr sz="1150" b="0">
                <a:solidFill>
                  <a:srgbClr val="4C5A6B"/>
                </a:solidFill>
                <a:latin typeface="Consolas"/>
              </a:rPr>
              <a:t>app.py — entry point &amp; sidebar shell</a:t>
            </a:r>
          </a:p>
          <a:p>
            <a:pPr algn="l">
              <a:spcAft>
                <a:spcPts val="300"/>
              </a:spcAft>
            </a:pPr>
            <a:r>
              <a:rPr sz="1150" b="0">
                <a:solidFill>
                  <a:srgbClr val="4C5A6B"/>
                </a:solidFill>
                <a:latin typeface="Consolas"/>
              </a:rPr>
              <a:t>src/ — config, loader, preprocessing, features,</a:t>
            </a:r>
          </a:p>
          <a:p>
            <a:pPr algn="l">
              <a:spcAft>
                <a:spcPts val="300"/>
              </a:spcAft>
            </a:pPr>
            <a:r>
              <a:rPr sz="1150" b="0">
                <a:solidFill>
                  <a:srgbClr val="4C5A6B"/>
                </a:solidFill>
                <a:latin typeface="Consolas"/>
              </a:rPr>
              <a:t>        train, uncertainty, predict, evaluation,</a:t>
            </a:r>
          </a:p>
          <a:p>
            <a:pPr algn="l">
              <a:spcAft>
                <a:spcPts val="300"/>
              </a:spcAft>
            </a:pPr>
            <a:r>
              <a:rPr sz="1150" b="0">
                <a:solidFill>
                  <a:srgbClr val="4C5A6B"/>
                </a:solidFill>
                <a:latin typeface="Consolas"/>
              </a:rPr>
              <a:t>        study, database, pipeline</a:t>
            </a:r>
          </a:p>
          <a:p>
            <a:pPr algn="l">
              <a:spcAft>
                <a:spcPts val="300"/>
              </a:spcAft>
            </a:pPr>
            <a:r>
              <a:rPr sz="1150" b="0">
                <a:solidFill>
                  <a:srgbClr val="4C5A6B"/>
                </a:solidFill>
                <a:latin typeface="Consolas"/>
              </a:rPr>
              <a:t>views/ — theme + one module per page</a:t>
            </a:r>
          </a:p>
          <a:p>
            <a:pPr algn="l">
              <a:spcAft>
                <a:spcPts val="300"/>
              </a:spcAft>
            </a:pPr>
            <a:r>
              <a:rPr sz="1150" b="0">
                <a:solidFill>
                  <a:srgbClr val="4C5A6B"/>
                </a:solidFill>
                <a:latin typeface="Consolas"/>
              </a:rPr>
              <a:t>data/ — dataset.csv, study.db</a:t>
            </a:r>
          </a:p>
          <a:p>
            <a:pPr algn="l">
              <a:spcAft>
                <a:spcPts val="300"/>
              </a:spcAft>
            </a:pPr>
            <a:r>
              <a:rPr sz="1150" b="0">
                <a:solidFill>
                  <a:srgbClr val="4C5A6B"/>
                </a:solidFill>
                <a:latin typeface="Consolas"/>
              </a:rPr>
              <a:t>models/ — cached bundle, features, evaluation</a:t>
            </a:r>
          </a:p>
          <a:p>
            <a:pPr algn="l">
              <a:spcAft>
                <a:spcPts val="300"/>
              </a:spcAft>
            </a:pPr>
            <a:r>
              <a:rPr sz="1150" b="0">
                <a:solidFill>
                  <a:srgbClr val="4C5A6B"/>
                </a:solidFill>
                <a:latin typeface="Consolas"/>
              </a:rPr>
              <a:t>notebooks/ — exploration.ipynb</a:t>
            </a:r>
          </a:p>
          <a:p>
            <a:pPr algn="l">
              <a:spcAft>
                <a:spcPts val="300"/>
              </a:spcAft>
            </a:pPr>
            <a:r>
              <a:rPr sz="1150" b="0">
                <a:solidFill>
                  <a:srgbClr val="4C5A6B"/>
                </a:solidFill>
                <a:latin typeface="Consolas"/>
              </a:rPr>
              <a:t>scripts/ — smoke_test.py, make_ppt.py</a:t>
            </a:r>
          </a:p>
          <a:p>
            <a:pPr algn="l">
              <a:spcAft>
                <a:spcPts val="300"/>
              </a:spcAft>
            </a:pPr>
            <a:r>
              <a:rPr sz="1150" b="0">
                <a:solidFill>
                  <a:srgbClr val="4C5A6B"/>
                </a:solidFill>
                <a:latin typeface="Consolas"/>
              </a:rPr>
              <a:t>README.md · requirements.txt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F2F7"/>
        </a:solidFill>
        <a:effectLst/>
      </p:bgPr>
    </p:bg>
    <p:spTree>
      <p:nvGrpSpPr>
        <p:cNvPr id="1" name=""/>
        <p:cNvGrpSpPr/>
        <p:nvPr/>
      </p:nvGrpSpPr>
      <p:grpSpPr/>
      <p:sp>
        <p:nvSpPr>
          <p:cNvPr id="2" name="TextBox 1"/>
          <p:cNvSpPr txBox="1"/>
          <p:nvPr/>
        </p:nvSpPr>
        <p:spPr>
          <a:xfrm>
            <a:off x="640080" y="411480"/>
            <a:ext cx="8229600" cy="320040"/>
          </a:xfrm>
          <a:prstGeom prst="rect">
            <a:avLst/>
          </a:prstGeom>
          <a:noFill/>
        </p:spPr>
        <p:txBody>
          <a:bodyPr wrap="square">
            <a:spAutoFit/>
          </a:bodyPr>
          <a:lstStyle/>
          <a:p>
            <a:pPr algn="l">
              <a:spcAft>
                <a:spcPts val="400"/>
              </a:spcAft>
            </a:pPr>
            <a:r>
              <a:rPr sz="1100" b="1">
                <a:solidFill>
                  <a:srgbClr val="8494A7"/>
                </a:solidFill>
                <a:latin typeface="Poppins"/>
              </a:rPr>
              <a:t>HONEST SCIENCE</a:t>
            </a:r>
          </a:p>
        </p:txBody>
      </p:sp>
      <p:sp>
        <p:nvSpPr>
          <p:cNvPr id="3" name="TextBox 2"/>
          <p:cNvSpPr txBox="1"/>
          <p:nvPr/>
        </p:nvSpPr>
        <p:spPr>
          <a:xfrm>
            <a:off x="640080" y="685800"/>
            <a:ext cx="10881360" cy="822960"/>
          </a:xfrm>
          <a:prstGeom prst="rect">
            <a:avLst/>
          </a:prstGeom>
          <a:noFill/>
        </p:spPr>
        <p:txBody>
          <a:bodyPr wrap="square">
            <a:spAutoFit/>
          </a:bodyPr>
          <a:lstStyle/>
          <a:p>
            <a:pPr algn="l">
              <a:spcAft>
                <a:spcPts val="400"/>
              </a:spcAft>
            </a:pPr>
            <a:r>
              <a:rPr sz="3000" b="1">
                <a:solidFill>
                  <a:srgbClr val="16202E"/>
                </a:solidFill>
                <a:latin typeface="Poppins"/>
              </a:rPr>
              <a:t>Limitations &amp; future work</a:t>
            </a:r>
          </a:p>
        </p:txBody>
      </p:sp>
      <p:sp>
        <p:nvSpPr>
          <p:cNvPr id="4" name="TextBox 3"/>
          <p:cNvSpPr txBox="1"/>
          <p:nvPr/>
        </p:nvSpPr>
        <p:spPr>
          <a:xfrm>
            <a:off x="640080" y="1508760"/>
            <a:ext cx="5577840" cy="4572000"/>
          </a:xfrm>
          <a:prstGeom prst="rect">
            <a:avLst/>
          </a:prstGeom>
          <a:noFill/>
        </p:spPr>
        <p:txBody>
          <a:bodyPr wrap="square">
            <a:spAutoFit/>
          </a:bodyPr>
          <a:lstStyle/>
          <a:p>
            <a:pPr algn="l">
              <a:spcAft>
                <a:spcPts val="1100"/>
              </a:spcAft>
            </a:pPr>
            <a:r>
              <a:rPr sz="1250" b="1">
                <a:solidFill>
                  <a:srgbClr val="16202E"/>
                </a:solidFill>
                <a:latin typeface="Poppins"/>
              </a:rPr>
              <a:t>Decision ground truth is simplified  </a:t>
            </a:r>
            <a:r>
              <a:rPr sz="1250" b="0">
                <a:solidFill>
                  <a:srgbClr val="4C5A6B"/>
                </a:solidFill>
                <a:latin typeface="Poppins"/>
              </a:rPr>
              <a:t>— it ignores asymmetric costs of cancelling vs. getting rained out.</a:t>
            </a:r>
          </a:p>
          <a:p>
            <a:pPr algn="l">
              <a:spcAft>
                <a:spcPts val="1100"/>
              </a:spcAft>
            </a:pPr>
            <a:r>
              <a:rPr sz="1250" b="1">
                <a:solidFill>
                  <a:srgbClr val="16202E"/>
                </a:solidFill>
                <a:latin typeface="Poppins"/>
              </a:rPr>
              <a:t>Decisions treated as independent  </a:t>
            </a:r>
            <a:r>
              <a:rPr sz="1250" b="0">
                <a:solidFill>
                  <a:srgbClr val="4C5A6B"/>
                </a:solidFill>
                <a:latin typeface="Poppins"/>
              </a:rPr>
              <a:t>— mixed-effects models would handle within-participant correlation.</a:t>
            </a:r>
          </a:p>
          <a:p>
            <a:pPr algn="l">
              <a:spcAft>
                <a:spcPts val="1100"/>
              </a:spcAft>
            </a:pPr>
            <a:r>
              <a:rPr sz="1250" b="1">
                <a:solidFill>
                  <a:srgbClr val="16202E"/>
                </a:solidFill>
                <a:latin typeface="Poppins"/>
              </a:rPr>
              <a:t>Marginal, not conditional coverage  </a:t>
            </a:r>
            <a:r>
              <a:rPr sz="1250" b="0">
                <a:solidFill>
                  <a:srgbClr val="4C5A6B"/>
                </a:solidFill>
                <a:latin typeface="Poppins"/>
              </a:rPr>
              <a:t>— per-station/per-season (Mondrian) conformal is the natural next step.</a:t>
            </a:r>
          </a:p>
          <a:p>
            <a:pPr algn="l">
              <a:spcAft>
                <a:spcPts val="1100"/>
              </a:spcAft>
            </a:pPr>
            <a:r>
              <a:rPr sz="1250" b="1">
                <a:solidFill>
                  <a:srgbClr val="16202E"/>
                </a:solidFill>
                <a:latin typeface="Poppins"/>
              </a:rPr>
              <a:t>Heuristic explanations  </a:t>
            </a:r>
            <a:r>
              <a:rPr sz="1250" b="0">
                <a:solidFill>
                  <a:srgbClr val="4C5A6B"/>
                </a:solidFill>
                <a:latin typeface="Poppins"/>
              </a:rPr>
              <a:t>— feature influence is not SHAP-style attribution and is labelled as such.</a:t>
            </a:r>
          </a:p>
          <a:p>
            <a:pPr algn="l">
              <a:spcAft>
                <a:spcPts val="1100"/>
              </a:spcAft>
            </a:pPr>
            <a:r>
              <a:rPr sz="1250" b="1">
                <a:solidFill>
                  <a:srgbClr val="16202E"/>
                </a:solidFill>
                <a:latin typeface="Poppins"/>
              </a:rPr>
              <a:t>Small convenience samples  </a:t>
            </a:r>
            <a:r>
              <a:rPr sz="1250" b="0">
                <a:solidFill>
                  <a:srgbClr val="4C5A6B"/>
                </a:solidFill>
                <a:latin typeface="Poppins"/>
              </a:rPr>
              <a:t>— flagged exploratory automatically.</a:t>
            </a:r>
          </a:p>
        </p:txBody>
      </p:sp>
      <p:sp>
        <p:nvSpPr>
          <p:cNvPr id="5" name="TextBox 4"/>
          <p:cNvSpPr txBox="1"/>
          <p:nvPr/>
        </p:nvSpPr>
        <p:spPr>
          <a:xfrm>
            <a:off x="6492240" y="1508760"/>
            <a:ext cx="5029200" cy="274320"/>
          </a:xfrm>
          <a:prstGeom prst="rect">
            <a:avLst/>
          </a:prstGeom>
          <a:noFill/>
        </p:spPr>
        <p:txBody>
          <a:bodyPr wrap="square">
            <a:spAutoFit/>
          </a:bodyPr>
          <a:lstStyle/>
          <a:p>
            <a:pPr algn="l">
              <a:spcAft>
                <a:spcPts val="400"/>
              </a:spcAft>
            </a:pPr>
            <a:r>
              <a:rPr sz="1050" b="1">
                <a:solidFill>
                  <a:srgbClr val="2A78D6"/>
                </a:solidFill>
                <a:latin typeface="Poppins"/>
              </a:rPr>
              <a:t>FUTURE IMPROVEMENTS</a:t>
            </a:r>
          </a:p>
        </p:txBody>
      </p:sp>
      <p:sp>
        <p:nvSpPr>
          <p:cNvPr id="6" name="TextBox 5"/>
          <p:cNvSpPr txBox="1"/>
          <p:nvPr/>
        </p:nvSpPr>
        <p:spPr>
          <a:xfrm>
            <a:off x="6492240" y="1874519"/>
            <a:ext cx="5029200" cy="4572000"/>
          </a:xfrm>
          <a:prstGeom prst="rect">
            <a:avLst/>
          </a:prstGeom>
          <a:noFill/>
        </p:spPr>
        <p:txBody>
          <a:bodyPr wrap="square">
            <a:spAutoFit/>
          </a:bodyPr>
          <a:lstStyle/>
          <a:p>
            <a:pPr algn="l">
              <a:spcAft>
                <a:spcPts val="1000"/>
              </a:spcAft>
            </a:pPr>
            <a:r>
              <a:rPr sz="1250" b="0">
                <a:solidFill>
                  <a:srgbClr val="4C5A6B"/>
                </a:solidFill>
                <a:latin typeface="Poppins"/>
              </a:rPr>
              <a:t>Mondrian conformal prediction (per station / season)</a:t>
            </a:r>
          </a:p>
          <a:p>
            <a:pPr algn="l">
              <a:spcAft>
                <a:spcPts val="1000"/>
              </a:spcAft>
            </a:pPr>
            <a:r>
              <a:rPr sz="1250" b="0">
                <a:solidFill>
                  <a:srgbClr val="4C5A6B"/>
                </a:solidFill>
                <a:latin typeface="Poppins"/>
              </a:rPr>
              <a:t>Mixed-effects logistic regression for the study</a:t>
            </a:r>
          </a:p>
          <a:p>
            <a:pPr algn="l">
              <a:spcAft>
                <a:spcPts val="1000"/>
              </a:spcAft>
            </a:pPr>
            <a:r>
              <a:rPr sz="1250" b="0">
                <a:solidFill>
                  <a:srgbClr val="4C5A6B"/>
                </a:solidFill>
                <a:latin typeface="Poppins"/>
              </a:rPr>
              <a:t>Cost-sensitive, expected-utility decision support</a:t>
            </a:r>
          </a:p>
          <a:p>
            <a:pPr algn="l">
              <a:spcAft>
                <a:spcPts val="1000"/>
              </a:spcAft>
            </a:pPr>
            <a:r>
              <a:rPr sz="1250" b="0">
                <a:solidFill>
                  <a:srgbClr val="4C5A6B"/>
                </a:solidFill>
                <a:latin typeface="Poppins"/>
              </a:rPr>
              <a:t>SHAP-based local explanations</a:t>
            </a:r>
          </a:p>
          <a:p>
            <a:pPr algn="l">
              <a:spcAft>
                <a:spcPts val="1000"/>
              </a:spcAft>
            </a:pPr>
            <a:r>
              <a:rPr sz="1250" b="0">
                <a:solidFill>
                  <a:srgbClr val="4C5A6B"/>
                </a:solidFill>
                <a:latin typeface="Poppins"/>
              </a:rPr>
              <a:t>Rain-amount intervals via conformalized quantile regression</a:t>
            </a:r>
          </a:p>
        </p:txBody>
      </p:sp>
      <p:sp>
        <p:nvSpPr>
          <p:cNvPr id="7" name="Rectangle 6"/>
          <p:cNvSpPr/>
          <p:nvPr/>
        </p:nvSpPr>
        <p:spPr>
          <a:xfrm>
            <a:off x="640080" y="5394960"/>
            <a:ext cx="10972800" cy="82296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559552"/>
            <a:ext cx="10424160" cy="548640"/>
          </a:xfrm>
          <a:prstGeom prst="rect">
            <a:avLst/>
          </a:prstGeom>
          <a:noFill/>
        </p:spPr>
        <p:txBody>
          <a:bodyPr wrap="square">
            <a:spAutoFit/>
          </a:bodyPr>
          <a:lstStyle/>
          <a:p>
            <a:pPr algn="l">
              <a:spcAft>
                <a:spcPts val="400"/>
              </a:spcAft>
            </a:pPr>
            <a:r>
              <a:rPr sz="1300" b="1">
                <a:solidFill>
                  <a:srgbClr val="FFFFFF"/>
                </a:solidFill>
                <a:latin typeface="Poppins"/>
              </a:rPr>
              <a:t>Core contribution:  </a:t>
            </a:r>
            <a:r>
              <a:rPr sz="1300" b="0">
                <a:solidFill>
                  <a:srgbClr val="C3D0E0"/>
                </a:solidFill>
                <a:latin typeface="Poppins"/>
              </a:rPr>
              <a:t>a complete, honest pipeline from raw weather data to a statistically analysed human-decision experiment — uncertainty communicated, never fabricated.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